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14"/>
  </p:notesMasterIdLst>
  <p:sldIdLst>
    <p:sldId id="356" r:id="rId4"/>
    <p:sldId id="257" r:id="rId5"/>
    <p:sldId id="486" r:id="rId6"/>
    <p:sldId id="487" r:id="rId7"/>
    <p:sldId id="522" r:id="rId8"/>
    <p:sldId id="510" r:id="rId9"/>
    <p:sldId id="511" r:id="rId10"/>
    <p:sldId id="521" r:id="rId11"/>
    <p:sldId id="519" r:id="rId12"/>
    <p:sldId id="5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AA940-2E92-4863-825A-88ED809738C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DD839-10EF-4A65-BD93-382482A331C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D04DC91-93A2-4E34-B3E7-9B9FE7780CEF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01179E7-867B-436D-94A6-3F04E47898B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CA2EBB1-76D5-448E-8CA2-1C91F79A7207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87CC3D9-820F-476C-83C2-1A7998917A0C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7B0261-3778-4B17-A053-F52E660BDF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rPr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等线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2"/>
          <p:cNvGrpSpPr/>
          <p:nvPr/>
        </p:nvGrpSpPr>
        <p:grpSpPr>
          <a:xfrm>
            <a:off x="0" y="9360"/>
            <a:ext cx="12196080" cy="651240"/>
            <a:chOff x="0" y="9360"/>
            <a:chExt cx="12196080" cy="651240"/>
          </a:xfrm>
        </p:grpSpPr>
        <p:pic>
          <p:nvPicPr>
            <p:cNvPr id="20" name="Picture 2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9400" y="9360"/>
              <a:ext cx="838440" cy="639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" name="矩形 37"/>
            <p:cNvSpPr/>
            <p:nvPr/>
          </p:nvSpPr>
          <p:spPr>
            <a:xfrm>
              <a:off x="0" y="597240"/>
              <a:ext cx="5119920" cy="63360"/>
            </a:xfrm>
            <a:prstGeom prst="rect">
              <a:avLst/>
            </a:prstGeom>
            <a:gradFill rotWithShape="0">
              <a:gsLst>
                <a:gs pos="0">
                  <a:srgbClr val="5B9BD5"/>
                </a:gs>
                <a:gs pos="100000">
                  <a:srgbClr val="A9D18E"/>
                </a:gs>
              </a:gsLst>
              <a:lin ang="0"/>
            </a:gra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ctr">
              <a:noAutofit/>
            </a:bodyPr>
            <a:lstStyle/>
            <a:p>
              <a:pPr algn="ctr" defTabSz="4572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uFillTx/>
                <a:latin typeface="Calibri"/>
                <a:ea typeface="等线"/>
              </a:endParaRPr>
            </a:p>
          </p:txBody>
        </p:sp>
        <p:cxnSp>
          <p:nvCxnSpPr>
            <p:cNvPr id="22" name="直接连接符 39"/>
            <p:cNvCxnSpPr/>
            <p:nvPr/>
          </p:nvCxnSpPr>
          <p:spPr>
            <a:xfrm>
              <a:off x="5118480" y="611280"/>
              <a:ext cx="7077960" cy="720"/>
            </a:xfrm>
            <a:prstGeom prst="straightConnector1">
              <a:avLst/>
            </a:prstGeom>
            <a:ln w="12700">
              <a:solidFill>
                <a:srgbClr val="8BC145"/>
              </a:solidFill>
              <a:miter/>
            </a:ln>
          </p:spPr>
        </p:cxnSp>
      </p:grpSp>
      <p:sp>
        <p:nvSpPr>
          <p:cNvPr id="23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58B189-24B2-4011-BC22-111DD0035F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rPr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等线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670499" y="1926468"/>
            <a:ext cx="9102772" cy="201233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600" b="1">
                <a:solidFill>
                  <a:schemeClr val="dk1"/>
                </a:solidFill>
                <a:latin typeface="Times New Roman" panose="02020503050405090304"/>
              </a:rPr>
              <a:t>Combine molecular dynamic and machine learning for prediction of ligands dissociation and binding kinetics</a:t>
            </a:r>
            <a:endParaRPr lang="en-US" sz="3600" b="1" u="none" strike="noStrike">
              <a:solidFill>
                <a:schemeClr val="dk1"/>
              </a:solidFill>
              <a:uFillTx/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7794720" y="4436640"/>
            <a:ext cx="35305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uFillTx/>
                <a:latin typeface="Times New Roman" panose="02020503050405090304"/>
              </a:rPr>
              <a:t>Fu Xiao</a:t>
            </a:r>
            <a:endParaRPr lang="en-US" sz="2800" b="0" u="none" strike="noStrike" dirty="0">
              <a:solidFill>
                <a:schemeClr val="dk1"/>
              </a:solidFill>
              <a:uFillTx/>
              <a:latin typeface="Arial" panose="020B0604020202090204"/>
            </a:endParaRPr>
          </a:p>
          <a:p>
            <a:pPr marL="228600"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>
                <a:solidFill>
                  <a:schemeClr val="dk1"/>
                </a:solidFill>
                <a:latin typeface="Times New Roman" panose="02020503050405090304"/>
              </a:rPr>
              <a:t>02/06/2025</a:t>
            </a:r>
            <a:endParaRPr lang="en-US" sz="2800" b="0" u="none" strike="noStrike">
              <a:solidFill>
                <a:schemeClr val="dk1"/>
              </a:solidFill>
              <a:uFillTx/>
              <a:latin typeface="Arial" panose="020B0604020202090204"/>
            </a:endParaRPr>
          </a:p>
        </p:txBody>
      </p:sp>
      <p:sp>
        <p:nvSpPr>
          <p:cNvPr id="75" name="Rectangle 12"/>
          <p:cNvSpPr/>
          <p:nvPr/>
        </p:nvSpPr>
        <p:spPr>
          <a:xfrm>
            <a:off x="0" y="736560"/>
            <a:ext cx="12191400" cy="90720"/>
          </a:xfrm>
          <a:prstGeom prst="rect">
            <a:avLst/>
          </a:prstGeom>
          <a:solidFill>
            <a:srgbClr val="4B9CD3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Franklin Gothic Book"/>
            </a:endParaRPr>
          </a:p>
        </p:txBody>
      </p:sp>
      <p:pic>
        <p:nvPicPr>
          <p:cNvPr id="76" name="Picture 13" descr="A black and white logo&#10;&#10;Description automatically generated with low confidence"/>
          <p:cNvPicPr/>
          <p:nvPr/>
        </p:nvPicPr>
        <p:blipFill>
          <a:blip r:embed="rId1"/>
          <a:stretch>
            <a:fillRect/>
          </a:stretch>
        </p:blipFill>
        <p:spPr>
          <a:xfrm>
            <a:off x="495360" y="5660640"/>
            <a:ext cx="4010760" cy="703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" name="Group 17"/>
          <p:cNvGrpSpPr/>
          <p:nvPr/>
        </p:nvGrpSpPr>
        <p:grpSpPr>
          <a:xfrm>
            <a:off x="0" y="-1440"/>
            <a:ext cx="733680" cy="730800"/>
            <a:chOff x="0" y="-1440"/>
            <a:chExt cx="733680" cy="730800"/>
          </a:xfrm>
        </p:grpSpPr>
        <p:sp>
          <p:nvSpPr>
            <p:cNvPr id="78" name="Rectangle 18"/>
            <p:cNvSpPr/>
            <p:nvPr/>
          </p:nvSpPr>
          <p:spPr>
            <a:xfrm>
              <a:off x="0" y="-1440"/>
              <a:ext cx="733680" cy="730800"/>
            </a:xfrm>
            <a:prstGeom prst="rect">
              <a:avLst/>
            </a:prstGeom>
            <a:solidFill>
              <a:srgbClr val="4B9CD3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pic>
          <p:nvPicPr>
            <p:cNvPr id="79" name="Picture 19" descr="Logo&#10;&#10;Description automatically generated with low confidenc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9200" y="170280"/>
              <a:ext cx="574920" cy="373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0" name="TextBox 20"/>
          <p:cNvSpPr/>
          <p:nvPr/>
        </p:nvSpPr>
        <p:spPr>
          <a:xfrm>
            <a:off x="5129640" y="95760"/>
            <a:ext cx="29174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F497D"/>
                </a:solidFill>
                <a:uFillTx/>
                <a:latin typeface="Times New Roman" panose="02020503050405090304"/>
                <a:ea typeface="Microsoft YaHei"/>
              </a:rPr>
              <a:t>Project Progress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cxnSp>
        <p:nvCxnSpPr>
          <p:cNvPr id="81" name="直接连接符 10"/>
          <p:cNvCxnSpPr/>
          <p:nvPr/>
        </p:nvCxnSpPr>
        <p:spPr>
          <a:xfrm>
            <a:off x="1667906" y="3728422"/>
            <a:ext cx="9169983" cy="0"/>
          </a:xfrm>
          <a:prstGeom prst="straightConnector1">
            <a:avLst/>
          </a:prstGeom>
          <a:ln w="28575">
            <a:solidFill>
              <a:srgbClr val="808080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10"/>
          <p:cNvGrpSpPr/>
          <p:nvPr/>
        </p:nvGrpSpPr>
        <p:grpSpPr>
          <a:xfrm>
            <a:off x="189000" y="130320"/>
            <a:ext cx="733680" cy="730800"/>
            <a:chOff x="189000" y="130320"/>
            <a:chExt cx="733680" cy="730800"/>
          </a:xfrm>
        </p:grpSpPr>
        <p:sp>
          <p:nvSpPr>
            <p:cNvPr id="83" name="Rectangle 7"/>
            <p:cNvSpPr/>
            <p:nvPr/>
          </p:nvSpPr>
          <p:spPr>
            <a:xfrm>
              <a:off x="189000" y="130320"/>
              <a:ext cx="733680" cy="730800"/>
            </a:xfrm>
            <a:prstGeom prst="rect">
              <a:avLst/>
            </a:prstGeom>
            <a:solidFill>
              <a:srgbClr val="4B9CD3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pic>
          <p:nvPicPr>
            <p:cNvPr id="84" name="Picture 8" descr="Logo&#10;&#10;Description automatically generated with low confidence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68200" y="302040"/>
              <a:ext cx="574920" cy="373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5" name="TextBox 9"/>
          <p:cNvSpPr/>
          <p:nvPr/>
        </p:nvSpPr>
        <p:spPr>
          <a:xfrm>
            <a:off x="923040" y="227520"/>
            <a:ext cx="2223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F497D"/>
                </a:solidFill>
                <a:uFillTx/>
                <a:latin typeface="Times New Roman" panose="02020503050405090304"/>
                <a:ea typeface="Microsoft YaHei"/>
              </a:rPr>
              <a:t>CONTENTS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86" name="TextBox 25"/>
          <p:cNvSpPr/>
          <p:nvPr/>
        </p:nvSpPr>
        <p:spPr>
          <a:xfrm>
            <a:off x="6880680" y="1334520"/>
            <a:ext cx="26452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Backgrounds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grpSp>
        <p:nvGrpSpPr>
          <p:cNvPr id="87" name="Group 31"/>
          <p:cNvGrpSpPr/>
          <p:nvPr/>
        </p:nvGrpSpPr>
        <p:grpSpPr>
          <a:xfrm>
            <a:off x="2440800" y="1165320"/>
            <a:ext cx="3310560" cy="4847400"/>
            <a:chOff x="2440800" y="1165320"/>
            <a:chExt cx="3310560" cy="4847400"/>
          </a:xfrm>
        </p:grpSpPr>
        <p:sp>
          <p:nvSpPr>
            <p:cNvPr id="88" name="Rectangle 16"/>
            <p:cNvSpPr/>
            <p:nvPr/>
          </p:nvSpPr>
          <p:spPr>
            <a:xfrm>
              <a:off x="2440800" y="116532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01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89" name="Rectangle 18"/>
            <p:cNvSpPr/>
            <p:nvPr/>
          </p:nvSpPr>
          <p:spPr>
            <a:xfrm>
              <a:off x="3605040" y="127008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0" name="Rectangle 19"/>
            <p:cNvSpPr/>
            <p:nvPr/>
          </p:nvSpPr>
          <p:spPr>
            <a:xfrm>
              <a:off x="2440800" y="239436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02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1" name="Rectangle 20"/>
            <p:cNvSpPr/>
            <p:nvPr/>
          </p:nvSpPr>
          <p:spPr>
            <a:xfrm>
              <a:off x="3605040" y="249912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2" name="Rectangle 21"/>
            <p:cNvSpPr/>
            <p:nvPr/>
          </p:nvSpPr>
          <p:spPr>
            <a:xfrm>
              <a:off x="2440800" y="372780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03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3" name="Rectangle 22"/>
            <p:cNvSpPr/>
            <p:nvPr/>
          </p:nvSpPr>
          <p:spPr>
            <a:xfrm>
              <a:off x="3605040" y="383256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4" name="Rectangle 23"/>
            <p:cNvSpPr/>
            <p:nvPr/>
          </p:nvSpPr>
          <p:spPr>
            <a:xfrm>
              <a:off x="2440800" y="510012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04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5" name="Rectangle 24"/>
            <p:cNvSpPr/>
            <p:nvPr/>
          </p:nvSpPr>
          <p:spPr>
            <a:xfrm>
              <a:off x="3605040" y="520488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6" name="TextBox 26"/>
            <p:cNvSpPr/>
            <p:nvPr/>
          </p:nvSpPr>
          <p:spPr>
            <a:xfrm>
              <a:off x="3769560" y="1396080"/>
              <a:ext cx="17161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ONE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7" name="TextBox 27"/>
            <p:cNvSpPr/>
            <p:nvPr/>
          </p:nvSpPr>
          <p:spPr>
            <a:xfrm>
              <a:off x="3769560" y="2625120"/>
              <a:ext cx="17161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TWO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8" name="TextBox 28"/>
            <p:cNvSpPr/>
            <p:nvPr/>
          </p:nvSpPr>
          <p:spPr>
            <a:xfrm>
              <a:off x="3769560" y="3958920"/>
              <a:ext cx="1981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THREE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9" name="TextBox 29"/>
            <p:cNvSpPr/>
            <p:nvPr/>
          </p:nvSpPr>
          <p:spPr>
            <a:xfrm>
              <a:off x="3769560" y="5350680"/>
              <a:ext cx="1981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FORE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</p:grpSp>
      <p:sp>
        <p:nvSpPr>
          <p:cNvPr id="100" name="TextBox 32"/>
          <p:cNvSpPr/>
          <p:nvPr/>
        </p:nvSpPr>
        <p:spPr>
          <a:xfrm>
            <a:off x="6880680" y="2563560"/>
            <a:ext cx="21654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Experiment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01" name="TextBox 33"/>
          <p:cNvSpPr/>
          <p:nvPr/>
        </p:nvSpPr>
        <p:spPr>
          <a:xfrm>
            <a:off x="6935760" y="3852360"/>
            <a:ext cx="200952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Results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02" name="TextBox 34"/>
          <p:cNvSpPr/>
          <p:nvPr/>
        </p:nvSpPr>
        <p:spPr>
          <a:xfrm>
            <a:off x="6958440" y="5186160"/>
            <a:ext cx="2690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Research Plan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2" name="TextBox 2"/>
          <p:cNvSpPr/>
          <p:nvPr/>
        </p:nvSpPr>
        <p:spPr>
          <a:xfrm>
            <a:off x="7389863" y="178537"/>
            <a:ext cx="178412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800" b="1" u="none" strike="noStrike" dirty="0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</a:t>
            </a:r>
            <a:endParaRPr lang="en-US" b="1" dirty="0">
              <a:solidFill>
                <a:srgbClr val="FF0000"/>
              </a:solidFill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5857" y="667384"/>
          <a:ext cx="12096750" cy="75647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2025"/>
                <a:gridCol w="1190625"/>
                <a:gridCol w="876300"/>
                <a:gridCol w="914400"/>
                <a:gridCol w="1209675"/>
                <a:gridCol w="847725"/>
                <a:gridCol w="981075"/>
                <a:gridCol w="1200150"/>
                <a:gridCol w="809625"/>
                <a:gridCol w="942975"/>
                <a:gridCol w="1152525"/>
                <a:gridCol w="1009650"/>
              </a:tblGrid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4EK4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4,7,8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Anvil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5J20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4FKG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3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Anvil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5J82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4FKJ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S1,5,6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5J86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4FKQ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,2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,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4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5J2X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5LO6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S2,3,4,6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5J64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5LR1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S2,4,6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</a:rPr>
                        <a:t>5J27</a:t>
                      </a:r>
                      <a:endParaRPr lang="en-US" altLang="zh-CN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5NYH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S4,6,10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5O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D7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5O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CI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L-longf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5ODX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L-longf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5LO5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S2,3,4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5LQ9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S1,2,3,5,6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5LR7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S1,2,3,4,6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5LRZ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S1,2,3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5LS1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5T21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2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800" b="1" u="none" strike="noStrike" dirty="0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 dirty="0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dirty="0">
                <a:solidFill>
                  <a:schemeClr val="dk1"/>
                </a:solidFill>
                <a:latin typeface="Times New Roman" panose="02020503050405090304"/>
                <a:ea typeface="Microsoft YaHei"/>
              </a:rPr>
              <a:t> </a:t>
            </a:r>
            <a:endParaRPr lang="en-US" dirty="0">
              <a:solidFill>
                <a:schemeClr val="dk1"/>
              </a:solidFill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38785" y="1021080"/>
          <a:ext cx="11570970" cy="5543550"/>
        </p:xfrm>
        <a:graphic>
          <a:graphicData uri="http://schemas.openxmlformats.org/drawingml/2006/table">
            <a:tbl>
              <a:tblPr/>
              <a:tblGrid>
                <a:gridCol w="2313940"/>
                <a:gridCol w="2314575"/>
                <a:gridCol w="2313940"/>
                <a:gridCol w="4420435"/>
                <a:gridCol w="208080"/>
              </a:tblGrid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  <a:latin typeface="Arial" panose="020B0604020202090204" pitchFamily="34" charset="0"/>
                        </a:rPr>
                        <a:t>体系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  <a:latin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  <a:latin typeface="Arial" panose="020B0604020202090204" pitchFamily="34" charset="0"/>
                        </a:rPr>
                        <a:t>配体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  <a:latin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</a:rPr>
                        <a:t>atom_p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</a:rPr>
                        <a:t>atom_l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2160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5J20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6FJ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1261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28 (O1)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5J82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6GV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1266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28 (O2)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279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5J86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6GW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1266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28 (O1)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5J2X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6DL :212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1261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 (O2，配体第一个原子)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4020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5J64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6G7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1266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 (O2，配体第一个原子)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/>
        </p:nvGraphicFramePr>
        <p:xfrm>
          <a:off x="438785" y="1021080"/>
          <a:ext cx="11362890" cy="5543550"/>
        </p:xfrm>
        <a:graphic>
          <a:graphicData uri="http://schemas.openxmlformats.org/drawingml/2006/table">
            <a:tbl>
              <a:tblPr/>
              <a:tblGrid>
                <a:gridCol w="2313940"/>
                <a:gridCol w="2314575"/>
                <a:gridCol w="2313940"/>
                <a:gridCol w="4420435"/>
              </a:tblGrid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  <a:latin typeface="Arial" panose="020B0604020202090204" pitchFamily="34" charset="0"/>
                        </a:rPr>
                        <a:t>体系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  <a:latin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  <a:latin typeface="Arial" panose="020B0604020202090204" pitchFamily="34" charset="0"/>
                        </a:rPr>
                        <a:t>配体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  <a:latin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</a:rPr>
                        <a:t>atom_p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</a:rPr>
                        <a:t>atom_l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2160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dk1"/>
                          </a:solidFill>
                          <a:effectLst/>
                        </a:rPr>
                        <a:t>5J27</a:t>
                      </a:r>
                      <a:endParaRPr lang="en-US" altLang="zh-CN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279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4020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Times New Roman" panose="02020503050405090304"/>
                <a:ea typeface="Microsoft YaHei"/>
              </a:rPr>
              <a:t> </a:t>
            </a:r>
            <a:endParaRPr lang="en-US" sz="1800" b="0" u="none" strike="noStrike">
              <a:solidFill>
                <a:schemeClr val="dk1"/>
              </a:solidFill>
              <a:uFillTx/>
              <a:latin typeface="Arial" panose="020B0604020202090204"/>
              <a:cs typeface="Arial" panose="020B06040202020902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2" name="图片 1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283" y="775243"/>
            <a:ext cx="3696629" cy="5744271"/>
          </a:xfrm>
          <a:prstGeom prst="rect">
            <a:avLst/>
          </a:prstGeom>
        </p:spPr>
      </p:pic>
      <p:pic>
        <p:nvPicPr>
          <p:cNvPr id="3" name="图片 2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" y="1718449"/>
            <a:ext cx="2598002" cy="3322135"/>
          </a:xfrm>
          <a:prstGeom prst="rect">
            <a:avLst/>
          </a:prstGeom>
        </p:spPr>
      </p:pic>
      <p:pic>
        <p:nvPicPr>
          <p:cNvPr id="4" name="图片 3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68" y="808462"/>
            <a:ext cx="3688423" cy="5250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Times New Roman" panose="02020503050405090304"/>
                <a:ea typeface="Microsoft YaHei"/>
              </a:rPr>
              <a:t> </a:t>
            </a:r>
            <a:endParaRPr lang="en-US" sz="1800" b="0" u="none" strike="noStrike">
              <a:solidFill>
                <a:schemeClr val="dk1"/>
              </a:solidFill>
              <a:uFillTx/>
              <a:latin typeface="Arial" panose="020B0604020202090204"/>
              <a:cs typeface="Arial" panose="020B06040202020902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3" name="图片 2" descr="图示&#10;&#10;AI 生成的内容可能不正确。"/>
          <p:cNvPicPr>
            <a:picLocks noChangeAspect="1"/>
          </p:cNvPicPr>
          <p:nvPr/>
        </p:nvPicPr>
        <p:blipFill>
          <a:blip r:embed="rId1"/>
          <a:srcRect l="7082" t="933" r="21341"/>
          <a:stretch>
            <a:fillRect/>
          </a:stretch>
        </p:blipFill>
        <p:spPr>
          <a:xfrm>
            <a:off x="7399381" y="1349996"/>
            <a:ext cx="4248727" cy="334403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53537" y="696923"/>
            <a:ext cx="3573438" cy="922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lvl="1"/>
            <a:r>
              <a:rPr lang="en-US" altLang="zh-CN" err="1">
                <a:solidFill>
                  <a:srgbClr val="2E2E2E"/>
                </a:solidFill>
                <a:latin typeface="Roboto"/>
              </a:rPr>
              <a:t>ibblig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nlig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atom_p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</a:t>
            </a:r>
            <a:r>
              <a:rPr lang="zh-CN" altLang="en-US" b="1">
                <a:solidFill>
                  <a:srgbClr val="FF0000"/>
                </a:solidFill>
                <a:ea typeface="等线"/>
                <a:sym typeface="+mn-ea"/>
              </a:rPr>
              <a:t>1251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atom_l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</a:t>
            </a:r>
            <a:r>
              <a:rPr lang="zh-CN" altLang="en-US" b="1">
                <a:solidFill>
                  <a:srgbClr val="FF0000"/>
                </a:solidFill>
                <a:ea typeface="等线"/>
                <a:sym typeface="+mn-ea"/>
              </a:rPr>
              <a:t>31</a:t>
            </a:r>
            <a:endParaRPr lang="zh-CN">
              <a:ea typeface="等线"/>
            </a:endParaRPr>
          </a:p>
          <a:p>
            <a:pPr lvl="1"/>
            <a:r>
              <a:rPr lang="en-US" altLang="zh-CN">
                <a:solidFill>
                  <a:srgbClr val="2E2E2E"/>
                </a:solidFill>
                <a:latin typeface="Roboto"/>
              </a:rPr>
              <a:t>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dblig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3,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558" y="892583"/>
            <a:ext cx="6212306" cy="36825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3329 // the number of protein atoms in the system.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36200 // the total number of atoms in the system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ntwx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1000 // the steps to write the trajectory (default)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ntwprt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3329 // the number of protein complex atoms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igamd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28 (default) //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gamd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4 x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 = 4 x 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36200 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 = 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139428</a:t>
            </a:r>
            <a:r>
              <a:rPr lang="en-US">
                <a:latin typeface="Times New Roman" panose="02020503050405090304"/>
                <a:ea typeface="+mn-lt"/>
                <a:cs typeface="Times New Roman" panose="02020503050405090304"/>
              </a:rPr>
              <a:t> ~ </a:t>
            </a:r>
            <a:r>
              <a:rPr lang="en-US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20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0000</a:t>
            </a:r>
            <a:endParaRPr lang="en-US" altLang="zh-CN">
              <a:latin typeface="Times New Roman" panose="02020503050405090304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(Always make it a whole number) 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r>
              <a:rPr lang="en-GB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ntcmd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5 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10 x 200,000 = 2,000,000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ntcmdprep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2 x 200,000 = 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ntave= 2 x 200,000 = </a:t>
            </a: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45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ntave= 100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200,000 = </a:t>
            </a: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20,000,000</a:t>
            </a:r>
            <a:br>
              <a:rPr lang="en-US">
                <a:latin typeface="Times New Roman" panose="02020503050405090304"/>
                <a:cs typeface="Times New Roman" panose="02020503050405090304"/>
              </a:rPr>
            </a:b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nstlim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ntcmd= 20,00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0,000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+ 2000,000 = 22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,000,000</a:t>
            </a:r>
            <a:endParaRPr lang="en-US">
              <a:latin typeface="Times New Roman" panose="02020503050405090304"/>
              <a:ea typeface="等线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/500,000 = 44</a:t>
            </a:r>
            <a:r>
              <a:rPr lang="en-GB" b="1">
                <a:latin typeface="Times New Roman" panose="02020503050405090304"/>
                <a:cs typeface="Times New Roman" panose="02020503050405090304"/>
              </a:rPr>
              <a:t> ns </a:t>
            </a:r>
            <a:endParaRPr lang="en-GB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632" y="4783016"/>
            <a:ext cx="11955085" cy="2070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b="1">
                <a:solidFill>
                  <a:schemeClr val="accent5"/>
                </a:solidFill>
              </a:rPr>
              <a:t>Bgpro2atm</a:t>
            </a:r>
            <a:r>
              <a:rPr lang="en-US" altLang="zh-CN"/>
              <a:t>= 1,         //Start atomic number of the protein region. </a:t>
            </a:r>
            <a:endParaRPr lang="zh-CN" altLang="en-US"/>
          </a:p>
          <a:p>
            <a:r>
              <a:rPr lang="en-US" altLang="zh-CN" b="1">
                <a:solidFill>
                  <a:schemeClr val="accent5"/>
                </a:solidFill>
              </a:rPr>
              <a:t>Edpro2atm</a:t>
            </a:r>
            <a:r>
              <a:rPr lang="en-US" altLang="zh-CN"/>
              <a:t>= 3267,        //End atomic number of 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/>
              <a:t>he protein region.</a:t>
            </a:r>
            <a:endParaRPr lang="en-US" altLang="zh-CN">
              <a:ea typeface="等线"/>
            </a:endParaRPr>
          </a:p>
          <a:p>
            <a:endParaRPr lang="en-US" altLang="zh-CN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Timask1</a:t>
            </a:r>
            <a:r>
              <a:rPr lang="en-US">
                <a:ea typeface="+mn-lt"/>
                <a:cs typeface="+mn-lt"/>
              </a:rPr>
              <a:t>: ‘:210'  //Specifies atoms of the ligand. This variable has already been used in AMBER. The default is an empty string.</a:t>
            </a:r>
            <a:endParaRPr lang="en-US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Scmask1</a:t>
            </a:r>
            <a:r>
              <a:rPr lang="en-US">
                <a:ea typeface="+mn-lt"/>
                <a:cs typeface="+mn-lt"/>
              </a:rPr>
              <a:t>: ‘:210'  //Specifies atoms of the ligand that will be described using soft core in </a:t>
            </a:r>
            <a:r>
              <a:rPr lang="en-US" err="1">
                <a:ea typeface="+mn-lt"/>
                <a:cs typeface="+mn-lt"/>
              </a:rPr>
              <a:t>ambmask</a:t>
            </a:r>
            <a:r>
              <a:rPr lang="en-US">
                <a:ea typeface="+mn-lt"/>
                <a:cs typeface="+mn-lt"/>
              </a:rPr>
              <a:t> format. The</a:t>
            </a:r>
            <a:endParaRPr lang="en-US">
              <a:ea typeface="等线"/>
            </a:endParaRPr>
          </a:p>
          <a:p>
            <a:r>
              <a:rPr lang="en-US">
                <a:ea typeface="+mn-lt"/>
                <a:cs typeface="+mn-lt"/>
              </a:rPr>
              <a:t>default is an empty string.</a:t>
            </a:r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839" y="4917051"/>
            <a:ext cx="26711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zh-CN" altLang="en-US" b="1">
                <a:ea typeface="等线"/>
              </a:rPr>
              <a:t>ASP/78-OD2-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1251</a:t>
            </a:r>
            <a:endParaRPr lang="zh-CN" altLang="en-US" b="1">
              <a:ea typeface="等线"/>
            </a:endParaRPr>
          </a:p>
          <a:p>
            <a:r>
              <a:rPr lang="zh-CN" altLang="en-US" b="1">
                <a:ea typeface="等线"/>
              </a:rPr>
              <a:t>9R8/ 210-O2-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31</a:t>
            </a:r>
            <a:endParaRPr lang="zh-CN">
              <a:ea typeface="等线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Times New Roman" panose="02020503050405090304"/>
                <a:ea typeface="Microsoft YaHei"/>
              </a:rPr>
              <a:t> </a:t>
            </a:r>
            <a:endParaRPr lang="en-US" sz="1800" b="0" u="none" strike="noStrike">
              <a:solidFill>
                <a:schemeClr val="dk1"/>
              </a:solidFill>
              <a:uFillTx/>
              <a:latin typeface="Arial" panose="020B0604020202090204"/>
              <a:cs typeface="Arial" panose="020B06040202020902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5ODX</a:t>
            </a:r>
            <a:endParaRPr lang="en-US" sz="1800" b="0" u="none" strike="noStrike">
              <a:solidFill>
                <a:schemeClr val="dk1"/>
              </a:solidFill>
              <a:uFillTx/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2" name="图片 1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168" y="801727"/>
            <a:ext cx="3557007" cy="5784230"/>
          </a:xfrm>
          <a:prstGeom prst="rect">
            <a:avLst/>
          </a:prstGeom>
        </p:spPr>
      </p:pic>
      <p:pic>
        <p:nvPicPr>
          <p:cNvPr id="3" name="图片 2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00" y="1559080"/>
            <a:ext cx="2867491" cy="35909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355" y="892098"/>
            <a:ext cx="3971023" cy="5454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5ODX</a:t>
            </a:r>
            <a:endParaRPr lang="en-US" sz="1800" b="0" u="none" strike="noStrike">
              <a:solidFill>
                <a:schemeClr val="dk1"/>
              </a:solidFill>
              <a:uFillTx/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6" name="图片 5" descr="图示&#10;&#10;AI 生成的内容可能不正确。"/>
          <p:cNvPicPr>
            <a:picLocks noChangeAspect="1"/>
          </p:cNvPicPr>
          <p:nvPr/>
        </p:nvPicPr>
        <p:blipFill>
          <a:blip r:embed="rId1"/>
          <a:srcRect l="7082" t="933" r="21341"/>
          <a:stretch>
            <a:fillRect/>
          </a:stretch>
        </p:blipFill>
        <p:spPr>
          <a:xfrm>
            <a:off x="7399381" y="1349996"/>
            <a:ext cx="4248727" cy="334403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53537" y="696923"/>
            <a:ext cx="35734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err="1">
                <a:solidFill>
                  <a:srgbClr val="2E2E2E"/>
                </a:solidFill>
                <a:latin typeface="Roboto"/>
              </a:rPr>
              <a:t>ibblig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nlig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atom_p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=1266,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atom_l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=36,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dblig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2.6,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17558" y="892583"/>
            <a:ext cx="6212306" cy="36825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3371 // the number of protein atoms in the system.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34900 // the total number of atoms in the system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ntwx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1000 // the steps to write the trajectory (default)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ntwprt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3371 // the number of protein complex atoms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igamd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28 (default) //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gamd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4 x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 = 4 x 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34900 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 = 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139428</a:t>
            </a:r>
            <a:r>
              <a:rPr lang="en-US">
                <a:latin typeface="Times New Roman" panose="02020503050405090304"/>
                <a:ea typeface="+mn-lt"/>
                <a:cs typeface="Times New Roman" panose="02020503050405090304"/>
              </a:rPr>
              <a:t> ~ </a:t>
            </a:r>
            <a:r>
              <a:rPr lang="en-US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20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0000</a:t>
            </a:r>
            <a:endParaRPr lang="en-US" altLang="zh-CN">
              <a:latin typeface="Times New Roman" panose="02020503050405090304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(Always make it a whole number) 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r>
              <a:rPr lang="en-GB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ntcmd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5 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10 x 200,000 = 2,000,000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ntcmdprep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2 x 200,000 = 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ntave= 2 x 200,000 = </a:t>
            </a: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45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ntave= 100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200,000 = </a:t>
            </a: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20,000,000</a:t>
            </a:r>
            <a:br>
              <a:rPr lang="en-US">
                <a:latin typeface="Times New Roman" panose="02020503050405090304"/>
                <a:cs typeface="Times New Roman" panose="02020503050405090304"/>
              </a:rPr>
            </a:b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nstlim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ntcmd= 20,00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0,000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+ 2000,000 = 22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,000,000</a:t>
            </a:r>
            <a:endParaRPr lang="en-US">
              <a:latin typeface="Times New Roman" panose="02020503050405090304"/>
              <a:ea typeface="等线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/500,000 = 44</a:t>
            </a:r>
            <a:r>
              <a:rPr lang="en-GB" b="1">
                <a:latin typeface="Times New Roman" panose="02020503050405090304"/>
                <a:cs typeface="Times New Roman" panose="02020503050405090304"/>
              </a:rPr>
              <a:t> ns </a:t>
            </a:r>
            <a:endParaRPr lang="en-GB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632" y="4783016"/>
            <a:ext cx="11955085" cy="2070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b="1">
                <a:solidFill>
                  <a:schemeClr val="accent5"/>
                </a:solidFill>
              </a:rPr>
              <a:t>Bgpro2atm</a:t>
            </a:r>
            <a:r>
              <a:rPr lang="en-US" altLang="zh-CN"/>
              <a:t>= 1,         //Start atomic number of the protein region. </a:t>
            </a:r>
            <a:endParaRPr lang="zh-CN" altLang="en-US"/>
          </a:p>
          <a:p>
            <a:r>
              <a:rPr lang="en-US" altLang="zh-CN" b="1">
                <a:solidFill>
                  <a:schemeClr val="accent5"/>
                </a:solidFill>
              </a:rPr>
              <a:t>Edpro2atm</a:t>
            </a:r>
            <a:r>
              <a:rPr lang="en-US" altLang="zh-CN"/>
              <a:t>= 3304,        //End atomic number of the protein region.</a:t>
            </a:r>
            <a:endParaRPr lang="en-US" altLang="zh-CN">
              <a:ea typeface="等线"/>
            </a:endParaRPr>
          </a:p>
          <a:p>
            <a:endParaRPr lang="en-US" altLang="zh-CN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Timask1</a:t>
            </a:r>
            <a:r>
              <a:rPr lang="en-US">
                <a:ea typeface="+mn-lt"/>
                <a:cs typeface="+mn-lt"/>
              </a:rPr>
              <a:t>: ‘:212'  //Specifies atoms of the ligand. This variable has already been used in AMBER. The default is an empty string.</a:t>
            </a:r>
            <a:endParaRPr lang="en-US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Scmask1</a:t>
            </a:r>
            <a:r>
              <a:rPr lang="en-US">
                <a:ea typeface="+mn-lt"/>
                <a:cs typeface="+mn-lt"/>
              </a:rPr>
              <a:t>: ‘:212'  //Specifies atoms of the ligand that will be described using soft core in </a:t>
            </a:r>
            <a:r>
              <a:rPr lang="en-US" err="1">
                <a:ea typeface="+mn-lt"/>
                <a:cs typeface="+mn-lt"/>
              </a:rPr>
              <a:t>ambmask</a:t>
            </a:r>
            <a:r>
              <a:rPr lang="en-US">
                <a:ea typeface="+mn-lt"/>
                <a:cs typeface="+mn-lt"/>
              </a:rPr>
              <a:t> format. The</a:t>
            </a:r>
            <a:endParaRPr lang="en-US">
              <a:ea typeface="等线"/>
            </a:endParaRPr>
          </a:p>
          <a:p>
            <a:r>
              <a:rPr lang="en-US">
                <a:ea typeface="+mn-lt"/>
                <a:cs typeface="+mn-lt"/>
              </a:rPr>
              <a:t>default is an empty string.</a:t>
            </a:r>
            <a:endParaRPr lang="en-US"/>
          </a:p>
        </p:txBody>
      </p:sp>
      <p:sp>
        <p:nvSpPr>
          <p:cNvPr id="14" name="文本框 13"/>
          <p:cNvSpPr txBox="1"/>
          <p:nvPr/>
        </p:nvSpPr>
        <p:spPr>
          <a:xfrm>
            <a:off x="8648839" y="4917051"/>
            <a:ext cx="26711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zh-CN" altLang="en-US" b="1">
                <a:ea typeface="等线"/>
              </a:rPr>
              <a:t>ASP/79-OD2-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1266</a:t>
            </a:r>
            <a:endParaRPr lang="zh-CN" altLang="en-US" b="1">
              <a:ea typeface="等线"/>
            </a:endParaRPr>
          </a:p>
          <a:p>
            <a:r>
              <a:rPr lang="zh-CN" altLang="en-US" b="1">
                <a:ea typeface="等线"/>
              </a:rPr>
              <a:t>9RZ/ 212-O2-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36</a:t>
            </a:r>
            <a:endParaRPr lang="zh-CN">
              <a:solidFill>
                <a:srgbClr val="000000"/>
              </a:solidFill>
              <a:ea typeface="等线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1*436"/>
  <p:tag name="TABLE_ENDDRAG_RECT" val="40*98*911*436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3227</Words>
  <Application>WPS Writer</Application>
  <PresentationFormat>宽屏</PresentationFormat>
  <Paragraphs>288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40" baseType="lpstr">
      <vt:lpstr>Arial</vt:lpstr>
      <vt:lpstr>SimSun</vt:lpstr>
      <vt:lpstr>Wingdings</vt:lpstr>
      <vt:lpstr>Times New Roman</vt:lpstr>
      <vt:lpstr>等线</vt:lpstr>
      <vt:lpstr>汉仪中等线KW</vt:lpstr>
      <vt:lpstr>Symbol</vt:lpstr>
      <vt:lpstr>Calibri</vt:lpstr>
      <vt:lpstr>Arial</vt:lpstr>
      <vt:lpstr>Franklin Gothic Book</vt:lpstr>
      <vt:lpstr>Microsoft YaHei</vt:lpstr>
      <vt:lpstr>汉仪旗黑</vt:lpstr>
      <vt:lpstr>Times New Roman</vt:lpstr>
      <vt:lpstr>-apple-system</vt:lpstr>
      <vt:lpstr>Roboto</vt:lpstr>
      <vt:lpstr>Thonburi</vt:lpstr>
      <vt:lpstr>Microsoft YaHei</vt:lpstr>
      <vt:lpstr>Arial Unicode MS</vt:lpstr>
      <vt:lpstr>Kingsoft Sign</vt:lpstr>
      <vt:lpstr>Helvetica Neue</vt:lpstr>
      <vt:lpstr>Aptos</vt:lpstr>
      <vt:lpstr>-apple-system</vt:lpstr>
      <vt:lpstr>Franklin Gothic Book</vt:lpstr>
      <vt:lpstr>Microsoft YaHei</vt:lpstr>
      <vt:lpstr>Roboto</vt:lpstr>
      <vt:lpstr>等线</vt:lpstr>
      <vt:lpstr>汉仪书宋二KW</vt:lpstr>
      <vt:lpstr>苹方-简</vt:lpstr>
      <vt:lpstr>Office 主题​​</vt:lpstr>
      <vt:lpstr>Office 主题​​</vt:lpstr>
      <vt:lpstr>Combine molecular dynamic and machine learning for prediction of ligands dissociation and binding kinetics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GaMD for M1R and M4R</dc:title>
  <dc:creator>Xiao Fu</dc:creator>
  <cp:lastModifiedBy>刘振鹏</cp:lastModifiedBy>
  <cp:revision>150</cp:revision>
  <dcterms:created xsi:type="dcterms:W3CDTF">2026-02-22T23:07:22Z</dcterms:created>
  <dcterms:modified xsi:type="dcterms:W3CDTF">2026-02-22T23:07:22Z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19</vt:i4>
  </property>
  <property fmtid="{D5CDD505-2E9C-101B-9397-08002B2CF9AE}" pid="5" name="ICV">
    <vt:lpwstr>2F80AB03B230801B2A8C9B69441548B2_43</vt:lpwstr>
  </property>
  <property fmtid="{D5CDD505-2E9C-101B-9397-08002B2CF9AE}" pid="6" name="KSOProductBuildVer">
    <vt:lpwstr>1033-12.1.22553.22553</vt:lpwstr>
  </property>
</Properties>
</file>