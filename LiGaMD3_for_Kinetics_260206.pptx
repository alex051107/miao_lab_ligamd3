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</p:sldMasterIdLst>
  <p:notesMasterIdLst>
    <p:notesMasterId r:id="rId13"/>
  </p:notesMasterIdLst>
  <p:sldIdLst>
    <p:sldId id="356" r:id="rId4"/>
    <p:sldId id="257" r:id="rId5"/>
    <p:sldId id="486" r:id="rId6"/>
    <p:sldId id="487" r:id="rId7"/>
    <p:sldId id="510" r:id="rId8"/>
    <p:sldId id="511" r:id="rId9"/>
    <p:sldId id="521" r:id="rId10"/>
    <p:sldId id="519" r:id="rId11"/>
    <p:sldId id="52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9AA940-2E92-4863-825A-88ED809738CA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FDD839-10EF-4A65-BD93-382482A331C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D04DC91-93A2-4E34-B3E7-9B9FE7780CEF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E01179E7-867B-436D-94A6-3F04E47898B5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ECA2EBB1-76D5-448E-8CA2-1C91F79A7207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F87CC3D9-820F-476C-83C2-1A7998917A0C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5" Type="http://schemas.openxmlformats.org/officeDocument/2006/relationships/theme" Target="../theme/theme2.xml"/><Relationship Id="rId4" Type="http://schemas.openxmlformats.org/officeDocument/2006/relationships/image" Target="../media/image1.png"/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503050405090304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 panose="02020503050405090304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 panose="02020503050405090304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57B0261-3778-4B17-A053-F52E660BDFA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等线"/>
              </a:rPr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 panose="02020503050405090304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50305040509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 panose="02020503050405090304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 panose="02020503050405090304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等线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uFillTx/>
              <a:latin typeface="等线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lnSpc>
                <a:spcPct val="9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等线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uFillTx/>
              <a:latin typeface="等线"/>
            </a:endParaRPr>
          </a:p>
          <a:p>
            <a:pPr marL="864235" lvl="1" indent="-323850">
              <a:lnSpc>
                <a:spcPct val="9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等线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uFillTx/>
              <a:latin typeface="等线"/>
            </a:endParaRPr>
          </a:p>
          <a:p>
            <a:pPr marL="1296035" lvl="2" indent="-28829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等线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uFillTx/>
              <a:latin typeface="等线"/>
            </a:endParaRPr>
          </a:p>
          <a:p>
            <a:pPr marL="1727835" lvl="3" indent="-215900">
              <a:lnSpc>
                <a:spcPct val="9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等线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uFillTx/>
              <a:latin typeface="等线"/>
            </a:endParaRPr>
          </a:p>
          <a:p>
            <a:pPr marL="2160270" lvl="4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等线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uFillTx/>
              <a:latin typeface="等线"/>
            </a:endParaRPr>
          </a:p>
          <a:p>
            <a:pPr marL="2592070" lvl="5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等线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uFillTx/>
              <a:latin typeface="等线"/>
            </a:endParaRPr>
          </a:p>
          <a:p>
            <a:pPr marL="3023870" lvl="6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等线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uFillTx/>
              <a:latin typeface="等线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22"/>
          <p:cNvGrpSpPr/>
          <p:nvPr/>
        </p:nvGrpSpPr>
        <p:grpSpPr>
          <a:xfrm>
            <a:off x="0" y="9360"/>
            <a:ext cx="12196080" cy="651240"/>
            <a:chOff x="0" y="9360"/>
            <a:chExt cx="12196080" cy="651240"/>
          </a:xfrm>
        </p:grpSpPr>
        <p:pic>
          <p:nvPicPr>
            <p:cNvPr id="20" name="Picture 23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59400" y="9360"/>
              <a:ext cx="838440" cy="6393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1" name="矩形 37"/>
            <p:cNvSpPr/>
            <p:nvPr/>
          </p:nvSpPr>
          <p:spPr>
            <a:xfrm>
              <a:off x="0" y="597240"/>
              <a:ext cx="5119920" cy="63360"/>
            </a:xfrm>
            <a:prstGeom prst="rect">
              <a:avLst/>
            </a:prstGeom>
            <a:gradFill rotWithShape="0">
              <a:gsLst>
                <a:gs pos="0">
                  <a:srgbClr val="5B9BD5"/>
                </a:gs>
                <a:gs pos="100000">
                  <a:srgbClr val="A9D18E"/>
                </a:gs>
              </a:gsLst>
              <a:lin ang="0"/>
            </a:gradFill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9080" rIns="90000" bIns="19080" anchor="ctr">
              <a:noAutofit/>
            </a:bodyPr>
            <a:lstStyle/>
            <a:p>
              <a:pPr algn="ctr" defTabSz="4572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uFillTx/>
                <a:latin typeface="Calibri"/>
                <a:ea typeface="等线"/>
              </a:endParaRPr>
            </a:p>
          </p:txBody>
        </p:sp>
        <p:cxnSp>
          <p:nvCxnSpPr>
            <p:cNvPr id="22" name="直接连接符 39"/>
            <p:cNvCxnSpPr/>
            <p:nvPr/>
          </p:nvCxnSpPr>
          <p:spPr>
            <a:xfrm>
              <a:off x="5118480" y="611280"/>
              <a:ext cx="7077960" cy="720"/>
            </a:xfrm>
            <a:prstGeom prst="straightConnector1">
              <a:avLst/>
            </a:prstGeom>
            <a:ln w="12700">
              <a:solidFill>
                <a:srgbClr val="8BC145"/>
              </a:solidFill>
              <a:miter/>
            </a:ln>
          </p:spPr>
        </p:cxnSp>
      </p:grpSp>
      <p:sp>
        <p:nvSpPr>
          <p:cNvPr id="23" name="PlaceHolder 1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503050405090304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 panose="02020503050405090304"/>
              </a:rPr>
              <a:t> 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 panose="02020503050405090304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558B189-24B2-4011-BC22-111DD0035F6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等线"/>
              </a:rPr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 panose="02020503050405090304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50305040509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 panose="02020503050405090304"/>
              </a:rPr>
              <a:t> 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 panose="02020503050405090304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等线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uFillTx/>
              <a:latin typeface="等线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lnSpc>
                <a:spcPct val="9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等线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uFillTx/>
              <a:latin typeface="等线"/>
            </a:endParaRPr>
          </a:p>
          <a:p>
            <a:pPr marL="864235" lvl="1" indent="-323850">
              <a:lnSpc>
                <a:spcPct val="9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等线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uFillTx/>
              <a:latin typeface="等线"/>
            </a:endParaRPr>
          </a:p>
          <a:p>
            <a:pPr marL="1296035" lvl="2" indent="-28829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等线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uFillTx/>
              <a:latin typeface="等线"/>
            </a:endParaRPr>
          </a:p>
          <a:p>
            <a:pPr marL="1727835" lvl="3" indent="-215900">
              <a:lnSpc>
                <a:spcPct val="9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等线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uFillTx/>
              <a:latin typeface="等线"/>
            </a:endParaRPr>
          </a:p>
          <a:p>
            <a:pPr marL="2160270" lvl="4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等线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uFillTx/>
              <a:latin typeface="等线"/>
            </a:endParaRPr>
          </a:p>
          <a:p>
            <a:pPr marL="2592070" lvl="5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等线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uFillTx/>
              <a:latin typeface="等线"/>
            </a:endParaRPr>
          </a:p>
          <a:p>
            <a:pPr marL="3023870" lvl="6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等线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uFillTx/>
              <a:latin typeface="等线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1670499" y="1926468"/>
            <a:ext cx="9102772" cy="201233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just">
              <a:lnSpc>
                <a:spcPct val="100000"/>
              </a:lnSpc>
              <a:tabLst>
                <a:tab pos="0" algn="l"/>
              </a:tabLst>
            </a:pPr>
            <a:r>
              <a:rPr lang="en-US" sz="3600" b="1">
                <a:solidFill>
                  <a:schemeClr val="dk1"/>
                </a:solidFill>
                <a:latin typeface="Times New Roman" panose="02020503050405090304"/>
              </a:rPr>
              <a:t>Combine molecular dynamic and machine learning for prediction of ligands dissociation and binding kinetics</a:t>
            </a:r>
            <a:endParaRPr lang="en-US" sz="3600" b="1" u="none" strike="noStrike">
              <a:solidFill>
                <a:schemeClr val="dk1"/>
              </a:solidFill>
              <a:uFillTx/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subTitle"/>
          </p:nvPr>
        </p:nvSpPr>
        <p:spPr>
          <a:xfrm>
            <a:off x="7794720" y="4436640"/>
            <a:ext cx="3530520" cy="8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/>
          <a:p>
            <a:pPr marL="228600"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uFillTx/>
                <a:latin typeface="Times New Roman" panose="02020503050405090304"/>
              </a:rPr>
              <a:t>Fu Xiao</a:t>
            </a:r>
            <a:endParaRPr lang="en-US" sz="2800" b="0" u="none" strike="noStrike" dirty="0">
              <a:solidFill>
                <a:schemeClr val="dk1"/>
              </a:solidFill>
              <a:uFillTx/>
              <a:latin typeface="Arial" panose="020B0604020202090204"/>
            </a:endParaRPr>
          </a:p>
          <a:p>
            <a:pPr marL="228600"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>
                <a:solidFill>
                  <a:schemeClr val="dk1"/>
                </a:solidFill>
                <a:latin typeface="Times New Roman" panose="02020503050405090304"/>
              </a:rPr>
              <a:t>02/06/2025</a:t>
            </a:r>
            <a:endParaRPr lang="en-US" sz="2800" b="0" u="none" strike="noStrike">
              <a:solidFill>
                <a:schemeClr val="dk1"/>
              </a:solidFill>
              <a:uFillTx/>
              <a:latin typeface="Arial" panose="020B0604020202090204"/>
            </a:endParaRPr>
          </a:p>
        </p:txBody>
      </p:sp>
      <p:sp>
        <p:nvSpPr>
          <p:cNvPr id="75" name="Rectangle 12"/>
          <p:cNvSpPr/>
          <p:nvPr/>
        </p:nvSpPr>
        <p:spPr>
          <a:xfrm>
            <a:off x="0" y="736560"/>
            <a:ext cx="12191400" cy="90720"/>
          </a:xfrm>
          <a:prstGeom prst="rect">
            <a:avLst/>
          </a:prstGeom>
          <a:solidFill>
            <a:srgbClr val="4B9CD3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uFillTx/>
              <a:latin typeface="Franklin Gothic Book"/>
            </a:endParaRPr>
          </a:p>
        </p:txBody>
      </p:sp>
      <p:pic>
        <p:nvPicPr>
          <p:cNvPr id="76" name="Picture 13" descr="A black and white logo&#10;&#10;Description automatically generated with low confidence"/>
          <p:cNvPicPr/>
          <p:nvPr/>
        </p:nvPicPr>
        <p:blipFill>
          <a:blip r:embed="rId1"/>
          <a:stretch>
            <a:fillRect/>
          </a:stretch>
        </p:blipFill>
        <p:spPr>
          <a:xfrm>
            <a:off x="495360" y="5660640"/>
            <a:ext cx="4010760" cy="7038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77" name="Group 17"/>
          <p:cNvGrpSpPr/>
          <p:nvPr/>
        </p:nvGrpSpPr>
        <p:grpSpPr>
          <a:xfrm>
            <a:off x="0" y="-1440"/>
            <a:ext cx="733680" cy="730800"/>
            <a:chOff x="0" y="-1440"/>
            <a:chExt cx="733680" cy="730800"/>
          </a:xfrm>
        </p:grpSpPr>
        <p:sp>
          <p:nvSpPr>
            <p:cNvPr id="78" name="Rectangle 18"/>
            <p:cNvSpPr/>
            <p:nvPr/>
          </p:nvSpPr>
          <p:spPr>
            <a:xfrm>
              <a:off x="0" y="-1440"/>
              <a:ext cx="733680" cy="730800"/>
            </a:xfrm>
            <a:prstGeom prst="rect">
              <a:avLst/>
            </a:prstGeom>
            <a:solidFill>
              <a:srgbClr val="4B9CD3"/>
            </a:solidFill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pic>
          <p:nvPicPr>
            <p:cNvPr id="79" name="Picture 19" descr="Logo&#10;&#10;Description automatically generated with low confidence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79200" y="170280"/>
              <a:ext cx="574920" cy="3733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80" name="TextBox 20"/>
          <p:cNvSpPr/>
          <p:nvPr/>
        </p:nvSpPr>
        <p:spPr>
          <a:xfrm>
            <a:off x="5129640" y="95760"/>
            <a:ext cx="291744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1F497D"/>
                </a:solidFill>
                <a:uFillTx/>
                <a:latin typeface="Times New Roman" panose="02020503050405090304"/>
                <a:ea typeface="Microsoft YaHei"/>
              </a:rPr>
              <a:t>Project Progress</a:t>
            </a:r>
            <a:endParaRPr lang="en-US" sz="2800" b="0" u="none" strike="noStrike">
              <a:solidFill>
                <a:srgbClr val="000000"/>
              </a:solidFill>
              <a:uFillTx/>
              <a:latin typeface="Arial" panose="020B0604020202090204"/>
            </a:endParaRPr>
          </a:p>
        </p:txBody>
      </p:sp>
      <p:cxnSp>
        <p:nvCxnSpPr>
          <p:cNvPr id="81" name="直接连接符 10"/>
          <p:cNvCxnSpPr/>
          <p:nvPr/>
        </p:nvCxnSpPr>
        <p:spPr>
          <a:xfrm>
            <a:off x="1667906" y="3728422"/>
            <a:ext cx="9169983" cy="0"/>
          </a:xfrm>
          <a:prstGeom prst="straightConnector1">
            <a:avLst/>
          </a:prstGeom>
          <a:ln w="28575">
            <a:solidFill>
              <a:srgbClr val="808080"/>
            </a:solidFill>
            <a:round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10"/>
          <p:cNvGrpSpPr/>
          <p:nvPr/>
        </p:nvGrpSpPr>
        <p:grpSpPr>
          <a:xfrm>
            <a:off x="189000" y="130320"/>
            <a:ext cx="733680" cy="730800"/>
            <a:chOff x="189000" y="130320"/>
            <a:chExt cx="733680" cy="730800"/>
          </a:xfrm>
        </p:grpSpPr>
        <p:sp>
          <p:nvSpPr>
            <p:cNvPr id="83" name="Rectangle 7"/>
            <p:cNvSpPr/>
            <p:nvPr/>
          </p:nvSpPr>
          <p:spPr>
            <a:xfrm>
              <a:off x="189000" y="130320"/>
              <a:ext cx="733680" cy="730800"/>
            </a:xfrm>
            <a:prstGeom prst="rect">
              <a:avLst/>
            </a:prstGeom>
            <a:solidFill>
              <a:srgbClr val="4B9CD3"/>
            </a:solidFill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pic>
          <p:nvPicPr>
            <p:cNvPr id="84" name="Picture 8" descr="Logo&#10;&#10;Description automatically generated with low confidence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268200" y="302040"/>
              <a:ext cx="574920" cy="3733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85" name="TextBox 9"/>
          <p:cNvSpPr/>
          <p:nvPr/>
        </p:nvSpPr>
        <p:spPr>
          <a:xfrm>
            <a:off x="923040" y="227520"/>
            <a:ext cx="222300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1F497D"/>
                </a:solidFill>
                <a:uFillTx/>
                <a:latin typeface="Times New Roman" panose="02020503050405090304"/>
                <a:ea typeface="Microsoft YaHei"/>
              </a:rPr>
              <a:t>CONTENTS</a:t>
            </a:r>
            <a:endParaRPr lang="en-US" sz="2800" b="0" u="none" strike="noStrike">
              <a:solidFill>
                <a:srgbClr val="000000"/>
              </a:solidFill>
              <a:uFillTx/>
              <a:latin typeface="Arial" panose="020B0604020202090204"/>
            </a:endParaRPr>
          </a:p>
        </p:txBody>
      </p:sp>
      <p:sp>
        <p:nvSpPr>
          <p:cNvPr id="86" name="TextBox 25"/>
          <p:cNvSpPr/>
          <p:nvPr/>
        </p:nvSpPr>
        <p:spPr>
          <a:xfrm>
            <a:off x="6880680" y="1334520"/>
            <a:ext cx="2645280" cy="57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Times New Roman" panose="02020503050405090304"/>
              </a:rPr>
              <a:t>Backgrounds</a:t>
            </a:r>
            <a:endParaRPr lang="en-US" sz="3200" b="0" u="none" strike="noStrike">
              <a:solidFill>
                <a:srgbClr val="000000"/>
              </a:solidFill>
              <a:uFillTx/>
              <a:latin typeface="Arial" panose="020B0604020202090204"/>
            </a:endParaRPr>
          </a:p>
        </p:txBody>
      </p:sp>
      <p:grpSp>
        <p:nvGrpSpPr>
          <p:cNvPr id="87" name="Group 31"/>
          <p:cNvGrpSpPr/>
          <p:nvPr/>
        </p:nvGrpSpPr>
        <p:grpSpPr>
          <a:xfrm>
            <a:off x="2440800" y="1165320"/>
            <a:ext cx="3310560" cy="4847400"/>
            <a:chOff x="2440800" y="1165320"/>
            <a:chExt cx="3310560" cy="4847400"/>
          </a:xfrm>
        </p:grpSpPr>
        <p:sp>
          <p:nvSpPr>
            <p:cNvPr id="88" name="Rectangle 16"/>
            <p:cNvSpPr/>
            <p:nvPr/>
          </p:nvSpPr>
          <p:spPr>
            <a:xfrm>
              <a:off x="2440800" y="1165320"/>
              <a:ext cx="1135440" cy="91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5400" b="1" u="none" strike="noStrike">
                  <a:solidFill>
                    <a:schemeClr val="accent5"/>
                  </a:solidFill>
                  <a:uFillTx/>
                  <a:latin typeface="等线"/>
                </a:rPr>
                <a:t>01</a:t>
              </a:r>
              <a:endParaRPr lang="en-US" sz="5400" b="0" u="none" strike="noStrike">
                <a:solidFill>
                  <a:srgbClr val="000000"/>
                </a:solidFill>
                <a:uFillTx/>
                <a:latin typeface="Arial" panose="020B0604020202090204"/>
              </a:endParaRPr>
            </a:p>
          </p:txBody>
        </p:sp>
        <p:sp>
          <p:nvSpPr>
            <p:cNvPr id="89" name="Rectangle 18"/>
            <p:cNvSpPr/>
            <p:nvPr/>
          </p:nvSpPr>
          <p:spPr>
            <a:xfrm>
              <a:off x="3605040" y="1270080"/>
              <a:ext cx="45000" cy="75204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uFillTx/>
                <a:latin typeface="等线"/>
              </a:endParaRPr>
            </a:p>
          </p:txBody>
        </p:sp>
        <p:sp>
          <p:nvSpPr>
            <p:cNvPr id="90" name="Rectangle 19"/>
            <p:cNvSpPr/>
            <p:nvPr/>
          </p:nvSpPr>
          <p:spPr>
            <a:xfrm>
              <a:off x="2440800" y="2394360"/>
              <a:ext cx="1135440" cy="91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5400" b="1" u="none" strike="noStrike">
                  <a:solidFill>
                    <a:schemeClr val="accent5"/>
                  </a:solidFill>
                  <a:uFillTx/>
                  <a:latin typeface="等线"/>
                </a:rPr>
                <a:t>02</a:t>
              </a:r>
              <a:endParaRPr lang="en-US" sz="5400" b="0" u="none" strike="noStrike">
                <a:solidFill>
                  <a:srgbClr val="000000"/>
                </a:solidFill>
                <a:uFillTx/>
                <a:latin typeface="Arial" panose="020B0604020202090204"/>
              </a:endParaRPr>
            </a:p>
          </p:txBody>
        </p:sp>
        <p:sp>
          <p:nvSpPr>
            <p:cNvPr id="91" name="Rectangle 20"/>
            <p:cNvSpPr/>
            <p:nvPr/>
          </p:nvSpPr>
          <p:spPr>
            <a:xfrm>
              <a:off x="3605040" y="2499120"/>
              <a:ext cx="45000" cy="75204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uFillTx/>
                <a:latin typeface="等线"/>
              </a:endParaRPr>
            </a:p>
          </p:txBody>
        </p:sp>
        <p:sp>
          <p:nvSpPr>
            <p:cNvPr id="92" name="Rectangle 21"/>
            <p:cNvSpPr/>
            <p:nvPr/>
          </p:nvSpPr>
          <p:spPr>
            <a:xfrm>
              <a:off x="2440800" y="3727800"/>
              <a:ext cx="1135440" cy="91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5400" b="1" u="none" strike="noStrike">
                  <a:solidFill>
                    <a:schemeClr val="accent5"/>
                  </a:solidFill>
                  <a:uFillTx/>
                  <a:latin typeface="等线"/>
                </a:rPr>
                <a:t>03</a:t>
              </a:r>
              <a:endParaRPr lang="en-US" sz="5400" b="0" u="none" strike="noStrike">
                <a:solidFill>
                  <a:srgbClr val="000000"/>
                </a:solidFill>
                <a:uFillTx/>
                <a:latin typeface="Arial" panose="020B0604020202090204"/>
              </a:endParaRPr>
            </a:p>
          </p:txBody>
        </p:sp>
        <p:sp>
          <p:nvSpPr>
            <p:cNvPr id="93" name="Rectangle 22"/>
            <p:cNvSpPr/>
            <p:nvPr/>
          </p:nvSpPr>
          <p:spPr>
            <a:xfrm>
              <a:off x="3605040" y="3832560"/>
              <a:ext cx="45000" cy="75204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uFillTx/>
                <a:latin typeface="等线"/>
              </a:endParaRPr>
            </a:p>
          </p:txBody>
        </p:sp>
        <p:sp>
          <p:nvSpPr>
            <p:cNvPr id="94" name="Rectangle 23"/>
            <p:cNvSpPr/>
            <p:nvPr/>
          </p:nvSpPr>
          <p:spPr>
            <a:xfrm>
              <a:off x="2440800" y="5100120"/>
              <a:ext cx="1135440" cy="91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5400" b="1" u="none" strike="noStrike">
                  <a:solidFill>
                    <a:schemeClr val="accent5"/>
                  </a:solidFill>
                  <a:uFillTx/>
                  <a:latin typeface="等线"/>
                </a:rPr>
                <a:t>04</a:t>
              </a:r>
              <a:endParaRPr lang="en-US" sz="5400" b="0" u="none" strike="noStrike">
                <a:solidFill>
                  <a:srgbClr val="000000"/>
                </a:solidFill>
                <a:uFillTx/>
                <a:latin typeface="Arial" panose="020B0604020202090204"/>
              </a:endParaRPr>
            </a:p>
          </p:txBody>
        </p:sp>
        <p:sp>
          <p:nvSpPr>
            <p:cNvPr id="95" name="Rectangle 24"/>
            <p:cNvSpPr/>
            <p:nvPr/>
          </p:nvSpPr>
          <p:spPr>
            <a:xfrm>
              <a:off x="3605040" y="5204880"/>
              <a:ext cx="45000" cy="75204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uFillTx/>
                <a:latin typeface="等线"/>
              </a:endParaRPr>
            </a:p>
          </p:txBody>
        </p:sp>
        <p:sp>
          <p:nvSpPr>
            <p:cNvPr id="96" name="TextBox 26"/>
            <p:cNvSpPr/>
            <p:nvPr/>
          </p:nvSpPr>
          <p:spPr>
            <a:xfrm>
              <a:off x="3769560" y="1396080"/>
              <a:ext cx="171612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2400" b="0" u="none" strike="noStrike">
                  <a:solidFill>
                    <a:schemeClr val="accent1">
                      <a:lumMod val="60000"/>
                      <a:lumOff val="40000"/>
                    </a:schemeClr>
                  </a:solidFill>
                  <a:uFillTx/>
                  <a:latin typeface="Times New Roman" panose="02020503050405090304"/>
                </a:rPr>
                <a:t>PART ONE</a:t>
              </a:r>
              <a:endParaRPr lang="en-US" sz="2400" b="0" u="none" strike="noStrike">
                <a:solidFill>
                  <a:srgbClr val="000000"/>
                </a:solidFill>
                <a:uFillTx/>
                <a:latin typeface="Arial" panose="020B0604020202090204"/>
              </a:endParaRPr>
            </a:p>
          </p:txBody>
        </p:sp>
        <p:sp>
          <p:nvSpPr>
            <p:cNvPr id="97" name="TextBox 27"/>
            <p:cNvSpPr/>
            <p:nvPr/>
          </p:nvSpPr>
          <p:spPr>
            <a:xfrm>
              <a:off x="3769560" y="2625120"/>
              <a:ext cx="171612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2400" b="0" u="none" strike="noStrike">
                  <a:solidFill>
                    <a:schemeClr val="accent1">
                      <a:lumMod val="60000"/>
                      <a:lumOff val="40000"/>
                    </a:schemeClr>
                  </a:solidFill>
                  <a:uFillTx/>
                  <a:latin typeface="Times New Roman" panose="02020503050405090304"/>
                </a:rPr>
                <a:t>PART TWO</a:t>
              </a:r>
              <a:endParaRPr lang="en-US" sz="2400" b="0" u="none" strike="noStrike">
                <a:solidFill>
                  <a:srgbClr val="000000"/>
                </a:solidFill>
                <a:uFillTx/>
                <a:latin typeface="Arial" panose="020B0604020202090204"/>
              </a:endParaRPr>
            </a:p>
          </p:txBody>
        </p:sp>
        <p:sp>
          <p:nvSpPr>
            <p:cNvPr id="98" name="TextBox 28"/>
            <p:cNvSpPr/>
            <p:nvPr/>
          </p:nvSpPr>
          <p:spPr>
            <a:xfrm>
              <a:off x="3769560" y="3958920"/>
              <a:ext cx="198180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2400" b="0" u="none" strike="noStrike">
                  <a:solidFill>
                    <a:schemeClr val="accent1">
                      <a:lumMod val="60000"/>
                      <a:lumOff val="40000"/>
                    </a:schemeClr>
                  </a:solidFill>
                  <a:uFillTx/>
                  <a:latin typeface="Times New Roman" panose="02020503050405090304"/>
                </a:rPr>
                <a:t>PART THREE</a:t>
              </a:r>
              <a:endParaRPr lang="en-US" sz="2400" b="0" u="none" strike="noStrike">
                <a:solidFill>
                  <a:srgbClr val="000000"/>
                </a:solidFill>
                <a:uFillTx/>
                <a:latin typeface="Arial" panose="020B0604020202090204"/>
              </a:endParaRPr>
            </a:p>
          </p:txBody>
        </p:sp>
        <p:sp>
          <p:nvSpPr>
            <p:cNvPr id="99" name="TextBox 29"/>
            <p:cNvSpPr/>
            <p:nvPr/>
          </p:nvSpPr>
          <p:spPr>
            <a:xfrm>
              <a:off x="3769560" y="5350680"/>
              <a:ext cx="198180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2400" b="0" u="none" strike="noStrike">
                  <a:solidFill>
                    <a:schemeClr val="accent1">
                      <a:lumMod val="60000"/>
                      <a:lumOff val="40000"/>
                    </a:schemeClr>
                  </a:solidFill>
                  <a:uFillTx/>
                  <a:latin typeface="Times New Roman" panose="02020503050405090304"/>
                </a:rPr>
                <a:t>PART FORE</a:t>
              </a:r>
              <a:endParaRPr lang="en-US" sz="2400" b="0" u="none" strike="noStrike">
                <a:solidFill>
                  <a:srgbClr val="000000"/>
                </a:solidFill>
                <a:uFillTx/>
                <a:latin typeface="Arial" panose="020B0604020202090204"/>
              </a:endParaRPr>
            </a:p>
          </p:txBody>
        </p:sp>
      </p:grpSp>
      <p:sp>
        <p:nvSpPr>
          <p:cNvPr id="100" name="TextBox 32"/>
          <p:cNvSpPr/>
          <p:nvPr/>
        </p:nvSpPr>
        <p:spPr>
          <a:xfrm>
            <a:off x="6880680" y="2563560"/>
            <a:ext cx="2165400" cy="57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Times New Roman" panose="02020503050405090304"/>
              </a:rPr>
              <a:t>Experiment</a:t>
            </a:r>
            <a:endParaRPr lang="en-US" sz="3200" b="0" u="none" strike="noStrike">
              <a:solidFill>
                <a:srgbClr val="000000"/>
              </a:solidFill>
              <a:uFillTx/>
              <a:latin typeface="Arial" panose="020B0604020202090204"/>
            </a:endParaRPr>
          </a:p>
        </p:txBody>
      </p:sp>
      <p:sp>
        <p:nvSpPr>
          <p:cNvPr id="101" name="TextBox 33"/>
          <p:cNvSpPr/>
          <p:nvPr/>
        </p:nvSpPr>
        <p:spPr>
          <a:xfrm>
            <a:off x="6935760" y="3852360"/>
            <a:ext cx="2009520" cy="57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Times New Roman" panose="02020503050405090304"/>
              </a:rPr>
              <a:t>Results</a:t>
            </a:r>
            <a:endParaRPr lang="en-US" sz="3200" b="0" u="none" strike="noStrike">
              <a:solidFill>
                <a:srgbClr val="000000"/>
              </a:solidFill>
              <a:uFillTx/>
              <a:latin typeface="Arial" panose="020B0604020202090204"/>
            </a:endParaRPr>
          </a:p>
        </p:txBody>
      </p:sp>
      <p:sp>
        <p:nvSpPr>
          <p:cNvPr id="102" name="TextBox 34"/>
          <p:cNvSpPr/>
          <p:nvPr/>
        </p:nvSpPr>
        <p:spPr>
          <a:xfrm>
            <a:off x="6958440" y="5186160"/>
            <a:ext cx="2690640" cy="57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Times New Roman" panose="02020503050405090304"/>
              </a:rPr>
              <a:t>Research Plan</a:t>
            </a:r>
            <a:endParaRPr lang="en-US" sz="3200" b="0" u="none" strike="noStrike">
              <a:solidFill>
                <a:srgbClr val="000000"/>
              </a:solidFill>
              <a:uFillTx/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Box 4"/>
          <p:cNvSpPr/>
          <p:nvPr/>
        </p:nvSpPr>
        <p:spPr>
          <a:xfrm>
            <a:off x="1325520" y="5657400"/>
            <a:ext cx="21232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FF0000"/>
                </a:solidFill>
                <a:uFillTx/>
                <a:latin typeface="Times New Roman" panose="02020503050405090304"/>
                <a:ea typeface="等线"/>
              </a:rPr>
              <a:t> 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90204"/>
            </a:endParaRPr>
          </a:p>
        </p:txBody>
      </p:sp>
      <p:sp>
        <p:nvSpPr>
          <p:cNvPr id="141" name="文本框 5"/>
          <p:cNvSpPr/>
          <p:nvPr/>
        </p:nvSpPr>
        <p:spPr>
          <a:xfrm>
            <a:off x="1170720" y="64800"/>
            <a:ext cx="3105000" cy="4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90000" tIns="45000" rIns="90000" bIns="45000" numCol="1" spcCol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600" b="1" u="none" strike="noStrike">
                <a:solidFill>
                  <a:srgbClr val="3366FF"/>
                </a:solidFill>
                <a:uFillTx/>
                <a:latin typeface="Microsoft YaHei"/>
                <a:ea typeface="Microsoft YaHei"/>
              </a:rPr>
              <a:t>2. Experiment</a:t>
            </a:r>
            <a:endParaRPr lang="en-US" sz="2600" b="0" u="none" strike="noStrike">
              <a:solidFill>
                <a:srgbClr val="000000"/>
              </a:solidFill>
              <a:uFillTx/>
              <a:latin typeface="Arial" panose="020B0604020202090204"/>
            </a:endParaRPr>
          </a:p>
        </p:txBody>
      </p:sp>
      <p:sp>
        <p:nvSpPr>
          <p:cNvPr id="12" name="TextBox 2"/>
          <p:cNvSpPr/>
          <p:nvPr/>
        </p:nvSpPr>
        <p:spPr>
          <a:xfrm>
            <a:off x="7389863" y="178537"/>
            <a:ext cx="1784125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en-US" sz="1800" b="1" u="none" strike="noStrike" dirty="0">
                <a:solidFill>
                  <a:srgbClr val="0066FF"/>
                </a:solidFill>
                <a:uFillTx/>
                <a:latin typeface="Times New Roman" panose="02020503050405090304"/>
                <a:ea typeface="Microsoft YaHei"/>
              </a:rPr>
              <a:t>LiGaMD3</a:t>
            </a:r>
            <a:endParaRPr lang="en-US" b="1" dirty="0">
              <a:solidFill>
                <a:srgbClr val="FF0000"/>
              </a:solidFill>
              <a:latin typeface="Times New Roman" panose="02020503050405090304"/>
              <a:ea typeface="Microsoft YaHei"/>
              <a:cs typeface="Times New Roman" panose="02020503050405090304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5857" y="667384"/>
          <a:ext cx="12096750" cy="756475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62025"/>
                <a:gridCol w="1190625"/>
                <a:gridCol w="876300"/>
                <a:gridCol w="914400"/>
                <a:gridCol w="1209675"/>
                <a:gridCol w="847725"/>
                <a:gridCol w="981075"/>
                <a:gridCol w="1200150"/>
                <a:gridCol w="809625"/>
                <a:gridCol w="942975"/>
                <a:gridCol w="1152525"/>
                <a:gridCol w="1009650"/>
              </a:tblGrid>
              <a:tr h="314325"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1" i="0">
                          <a:solidFill>
                            <a:srgbClr val="FFFFFF"/>
                          </a:solidFill>
                          <a:effectLst/>
                          <a:ea typeface="Times New Roman" panose="02020503050405090304" pitchFamily="18" charset="0"/>
                        </a:rPr>
                        <a:t>Systems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71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1" i="0">
                          <a:solidFill>
                            <a:srgbClr val="FFFFFF"/>
                          </a:solidFill>
                          <a:effectLst/>
                          <a:ea typeface="Times New Roman" panose="02020503050405090304" pitchFamily="18" charset="0"/>
                        </a:rPr>
                        <a:t>Production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71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1" i="0">
                          <a:solidFill>
                            <a:srgbClr val="FFFFFF"/>
                          </a:solidFill>
                          <a:effectLst/>
                          <a:ea typeface="Times New Roman" panose="02020503050405090304" pitchFamily="18" charset="0"/>
                        </a:rPr>
                        <a:t>Server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71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1" i="0">
                          <a:solidFill>
                            <a:srgbClr val="FFFFFF"/>
                          </a:solidFill>
                          <a:effectLst/>
                          <a:ea typeface="Times New Roman" panose="02020503050405090304" pitchFamily="18" charset="0"/>
                        </a:rPr>
                        <a:t>Systems</a:t>
                      </a:r>
                      <a:endParaRPr lang="en-US" altLang="zh-CN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71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1" i="0">
                          <a:solidFill>
                            <a:srgbClr val="FFFFFF"/>
                          </a:solidFill>
                          <a:effectLst/>
                          <a:ea typeface="Times New Roman" panose="02020503050405090304" pitchFamily="18" charset="0"/>
                        </a:rPr>
                        <a:t>Production</a:t>
                      </a:r>
                      <a:endParaRPr lang="en-US" altLang="zh-CN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71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1" i="0">
                          <a:solidFill>
                            <a:srgbClr val="FFFFFF"/>
                          </a:solidFill>
                          <a:effectLst/>
                          <a:ea typeface="Times New Roman" panose="02020503050405090304" pitchFamily="18" charset="0"/>
                        </a:rPr>
                        <a:t>Server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71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1" i="0">
                          <a:solidFill>
                            <a:srgbClr val="FFFFFF"/>
                          </a:solidFill>
                          <a:effectLst/>
                          <a:ea typeface="Times New Roman" panose="02020503050405090304" pitchFamily="18" charset="0"/>
                        </a:rPr>
                        <a:t>Systems</a:t>
                      </a:r>
                      <a:endParaRPr lang="en-US" altLang="zh-CN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71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1" i="0">
                          <a:solidFill>
                            <a:srgbClr val="FFFFFF"/>
                          </a:solidFill>
                          <a:effectLst/>
                          <a:ea typeface="Times New Roman" panose="02020503050405090304" pitchFamily="18" charset="0"/>
                        </a:rPr>
                        <a:t>Production</a:t>
                      </a:r>
                      <a:endParaRPr lang="en-US" altLang="zh-CN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71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1" i="0">
                          <a:solidFill>
                            <a:srgbClr val="FFFFFF"/>
                          </a:solidFill>
                          <a:effectLst/>
                          <a:ea typeface="Times New Roman" panose="02020503050405090304" pitchFamily="18" charset="0"/>
                        </a:rPr>
                        <a:t>Server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71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1" i="0">
                          <a:solidFill>
                            <a:srgbClr val="FFFFFF"/>
                          </a:solidFill>
                          <a:effectLst/>
                          <a:ea typeface="Times New Roman" panose="02020503050405090304" pitchFamily="18" charset="0"/>
                        </a:rPr>
                        <a:t>Systems</a:t>
                      </a:r>
                      <a:endParaRPr lang="en-US" altLang="zh-CN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71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1" i="0">
                          <a:solidFill>
                            <a:srgbClr val="FFFFFF"/>
                          </a:solidFill>
                          <a:effectLst/>
                          <a:ea typeface="Times New Roman" panose="02020503050405090304" pitchFamily="18" charset="0"/>
                        </a:rPr>
                        <a:t>Production</a:t>
                      </a:r>
                      <a:endParaRPr lang="en-US" altLang="zh-CN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71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1" i="0">
                          <a:solidFill>
                            <a:srgbClr val="FFFFFF"/>
                          </a:solidFill>
                          <a:effectLst/>
                          <a:ea typeface="Times New Roman" panose="02020503050405090304" pitchFamily="18" charset="0"/>
                        </a:rPr>
                        <a:t>Server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71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4EK4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71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S1,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503050405090304" pitchFamily="18" charset="0"/>
                        </a:rPr>
                        <a:t>4,7,8</a:t>
                      </a:r>
                      <a:endParaRPr lang="en-US" altLang="zh-C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71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Anvil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71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71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71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71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71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71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71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71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71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71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4FKG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S1,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503050405090304" pitchFamily="18" charset="0"/>
                        </a:rPr>
                        <a:t>3</a:t>
                      </a: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,6</a:t>
                      </a:r>
                      <a:endParaRPr lang="en-US" altLang="zh-C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Anvil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4FKJ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S1,5,6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Expanse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ClrTx/>
                        <a:buSzTx/>
                        <a:buFontTx/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4FKQ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S1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503050405090304" pitchFamily="18" charset="0"/>
                        </a:rPr>
                        <a:t>,2</a:t>
                      </a: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,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503050405090304" pitchFamily="18" charset="0"/>
                        </a:rPr>
                        <a:t>4</a:t>
                      </a:r>
                      <a:endParaRPr lang="en-US" altLang="zh-C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Expanse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ClrTx/>
                        <a:buSzTx/>
                        <a:buFontTx/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5LO6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503050405090304" pitchFamily="18" charset="0"/>
                        </a:rPr>
                        <a:t>S2,3,4,6</a:t>
                      </a:r>
                      <a:endParaRPr lang="en-US" altLang="zh-C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Expanse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ClrTx/>
                        <a:buSzTx/>
                        <a:buFontTx/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5LR1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503050405090304" pitchFamily="18" charset="0"/>
                        </a:rPr>
                        <a:t>S2,4,6</a:t>
                      </a:r>
                      <a:endParaRPr lang="en-US" altLang="zh-C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Expanse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ClrTx/>
                        <a:buSzTx/>
                        <a:buFontTx/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5NYH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503050405090304" pitchFamily="18" charset="0"/>
                        </a:rPr>
                        <a:t>S4,6,10</a:t>
                      </a:r>
                      <a:endParaRPr lang="en-US" altLang="zh-C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Expanse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ClrTx/>
                        <a:buSzTx/>
                        <a:buFontTx/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5O</a:t>
                      </a: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D7</a:t>
                      </a:r>
                      <a:endParaRPr lang="en-US" altLang="zh-C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503050405090304" pitchFamily="18" charset="0"/>
                        </a:rPr>
                        <a:t>Expanse</a:t>
                      </a:r>
                      <a:endParaRPr lang="en-US" altLang="zh-C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ClrTx/>
                        <a:buSzTx/>
                        <a:buFontTx/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5O</a:t>
                      </a: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CI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503050405090304" pitchFamily="18" charset="0"/>
                        </a:rPr>
                        <a:t>L-longf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5ODX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L-longf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 panose="02020503050405090304" pitchFamily="18" charset="0"/>
                        </a:rPr>
                        <a:t>5LO5</a:t>
                      </a:r>
                      <a:endParaRPr lang="en-US" altLang="zh-C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S2,3,4</a:t>
                      </a:r>
                      <a:endParaRPr lang="en-US" altLang="zh-C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503050405090304" pitchFamily="18" charset="0"/>
                        </a:rPr>
                        <a:t>Expanse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 panose="02020503050405090304" pitchFamily="18" charset="0"/>
                        </a:rPr>
                        <a:t>5LQ9</a:t>
                      </a:r>
                      <a:endParaRPr lang="en-US" altLang="zh-C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S1,2,3,5,6</a:t>
                      </a:r>
                      <a:endParaRPr lang="en-US" altLang="zh-C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503050405090304" pitchFamily="18" charset="0"/>
                        </a:rPr>
                        <a:t>Expanse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 panose="02020503050405090304" pitchFamily="18" charset="0"/>
                        </a:rPr>
                        <a:t>5LR7</a:t>
                      </a:r>
                      <a:endParaRPr lang="en-US" altLang="zh-C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S1,2,3,4,6</a:t>
                      </a:r>
                      <a:endParaRPr lang="en-US" altLang="zh-C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503050405090304" pitchFamily="18" charset="0"/>
                        </a:rPr>
                        <a:t>Expanse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 panose="02020503050405090304" pitchFamily="18" charset="0"/>
                        </a:rPr>
                        <a:t>5LRZ</a:t>
                      </a:r>
                      <a:endParaRPr lang="en-US" altLang="zh-C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S1,2,3</a:t>
                      </a:r>
                      <a:endParaRPr lang="en-US" altLang="zh-C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503050405090304" pitchFamily="18" charset="0"/>
                        </a:rPr>
                        <a:t>Expanse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Times New Roman" panose="02020503050405090304" pitchFamily="18" charset="0"/>
                        </a:rPr>
                        <a:t>5LS1</a:t>
                      </a:r>
                      <a:endParaRPr lang="en-US" altLang="zh-C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503050405090304" pitchFamily="18" charset="0"/>
                        </a:rPr>
                        <a:t>Expanse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effectLst/>
                          <a:ea typeface="Times New Roman" panose="02020503050405090304" pitchFamily="18" charset="0"/>
                        </a:rPr>
                        <a:t>5T21</a:t>
                      </a:r>
                      <a:endParaRPr lang="en-US" altLang="zh-CN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zh-CN" altLang="en-US">
                        <a:effectLst/>
                      </a:endParaRPr>
                    </a:p>
                  </a:txBody>
                  <a:tcPr>
                    <a:lnL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90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Box 4"/>
          <p:cNvSpPr/>
          <p:nvPr/>
        </p:nvSpPr>
        <p:spPr>
          <a:xfrm>
            <a:off x="1325520" y="5657400"/>
            <a:ext cx="21232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FF0000"/>
                </a:solidFill>
                <a:uFillTx/>
                <a:latin typeface="Times New Roman" panose="02020503050405090304"/>
                <a:ea typeface="等线"/>
              </a:rPr>
              <a:t> 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90204"/>
            </a:endParaRPr>
          </a:p>
        </p:txBody>
      </p:sp>
      <p:sp>
        <p:nvSpPr>
          <p:cNvPr id="141" name="文本框 5"/>
          <p:cNvSpPr/>
          <p:nvPr/>
        </p:nvSpPr>
        <p:spPr>
          <a:xfrm>
            <a:off x="1170720" y="64800"/>
            <a:ext cx="3105000" cy="4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90000" tIns="45000" rIns="90000" bIns="45000" numCol="1" spcCol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600" b="1" u="none" strike="noStrike">
                <a:solidFill>
                  <a:srgbClr val="3366FF"/>
                </a:solidFill>
                <a:uFillTx/>
                <a:latin typeface="Microsoft YaHei"/>
                <a:ea typeface="Microsoft YaHei"/>
              </a:rPr>
              <a:t>2. Experiment</a:t>
            </a:r>
            <a:endParaRPr lang="en-US" sz="2600" b="0" u="none" strike="noStrike">
              <a:solidFill>
                <a:srgbClr val="000000"/>
              </a:solidFill>
              <a:uFillTx/>
              <a:latin typeface="Arial" panose="020B0604020202090204"/>
            </a:endParaRPr>
          </a:p>
        </p:txBody>
      </p:sp>
      <p:sp>
        <p:nvSpPr>
          <p:cNvPr id="12" name="TextBox 2"/>
          <p:cNvSpPr/>
          <p:nvPr/>
        </p:nvSpPr>
        <p:spPr>
          <a:xfrm>
            <a:off x="6962400" y="225000"/>
            <a:ext cx="4116588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en-US" sz="1800" b="1" u="none" strike="noStrike" dirty="0">
                <a:solidFill>
                  <a:srgbClr val="0066FF"/>
                </a:solidFill>
                <a:uFillTx/>
                <a:latin typeface="Times New Roman" panose="02020503050405090304"/>
                <a:ea typeface="Microsoft YaHei"/>
              </a:rPr>
              <a:t>LiGaMD3 for </a:t>
            </a:r>
            <a:r>
              <a:rPr lang="en-US" b="1" dirty="0">
                <a:solidFill>
                  <a:srgbClr val="FF0000"/>
                </a:solidFill>
                <a:latin typeface="Times New Roman" panose="02020503050405090304"/>
                <a:ea typeface="Microsoft YaHei"/>
              </a:rPr>
              <a:t>HSP </a:t>
            </a:r>
            <a:r>
              <a:rPr lang="en-US" sz="1800" b="1" u="none" strike="noStrike" dirty="0">
                <a:solidFill>
                  <a:srgbClr val="FF0000"/>
                </a:solidFill>
                <a:uFillTx/>
                <a:latin typeface="Times New Roman" panose="02020503050405090304"/>
                <a:ea typeface="Microsoft YaHei"/>
              </a:rPr>
              <a:t>- </a:t>
            </a:r>
            <a:r>
              <a:rPr lang="en-US" b="1" dirty="0">
                <a:solidFill>
                  <a:srgbClr val="FF0000"/>
                </a:solidFill>
                <a:latin typeface="Times New Roman" panose="02020503050405090304"/>
                <a:ea typeface="Microsoft YaHei"/>
              </a:rPr>
              <a:t>5OCI</a:t>
            </a:r>
            <a:r>
              <a:rPr lang="en-US" dirty="0">
                <a:solidFill>
                  <a:schemeClr val="dk1"/>
                </a:solidFill>
                <a:latin typeface="Times New Roman" panose="02020503050405090304"/>
                <a:ea typeface="Microsoft YaHei"/>
              </a:rPr>
              <a:t> </a:t>
            </a:r>
            <a:endParaRPr lang="en-US" dirty="0">
              <a:solidFill>
                <a:schemeClr val="dk1"/>
              </a:solidFill>
              <a:latin typeface="Times New Roman" panose="02020503050405090304"/>
              <a:ea typeface="Microsoft YaHei"/>
              <a:cs typeface="Times New Roman" panose="02020503050405090304"/>
            </a:endParaRP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438785" y="1021080"/>
          <a:ext cx="11570970" cy="5543550"/>
        </p:xfrm>
        <a:graphic>
          <a:graphicData uri="http://schemas.openxmlformats.org/drawingml/2006/table">
            <a:tbl>
              <a:tblPr/>
              <a:tblGrid>
                <a:gridCol w="2313940"/>
                <a:gridCol w="2314575"/>
                <a:gridCol w="2313940"/>
                <a:gridCol w="4420435"/>
                <a:gridCol w="208080"/>
              </a:tblGrid>
              <a:tr h="771525"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1" i="0">
                          <a:solidFill>
                            <a:schemeClr val="dk1"/>
                          </a:solidFill>
                          <a:effectLst/>
                          <a:latin typeface="Arial" panose="020B0604020202090204" pitchFamily="34" charset="0"/>
                        </a:rPr>
                        <a:t>体系</a:t>
                      </a:r>
                      <a:endParaRPr lang="zh-CN" altLang="en-US" sz="1800" b="1" i="0">
                        <a:solidFill>
                          <a:schemeClr val="dk1"/>
                        </a:solidFill>
                        <a:effectLst/>
                        <a:latin typeface="Arial" panose="020B0604020202090204" pitchFamily="34" charset="0"/>
                      </a:endParaRPr>
                    </a:p>
                  </a:txBody>
                  <a:tcPr marL="0" marR="0" marT="0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1" i="0">
                          <a:solidFill>
                            <a:schemeClr val="dk1"/>
                          </a:solidFill>
                          <a:effectLst/>
                          <a:latin typeface="Arial" panose="020B0604020202090204" pitchFamily="34" charset="0"/>
                        </a:rPr>
                        <a:t>配体</a:t>
                      </a:r>
                      <a:endParaRPr lang="zh-CN" altLang="en-US" sz="1800" b="1" i="0">
                        <a:solidFill>
                          <a:schemeClr val="dk1"/>
                        </a:solidFill>
                        <a:effectLst/>
                        <a:latin typeface="Arial" panose="020B060402020209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1" i="0">
                          <a:solidFill>
                            <a:schemeClr val="dk1"/>
                          </a:solidFill>
                          <a:effectLst/>
                        </a:rPr>
                        <a:t>atom_p</a:t>
                      </a:r>
                      <a:endParaRPr lang="zh-CN" altLang="en-US" sz="1800" b="1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1" i="0">
                          <a:solidFill>
                            <a:schemeClr val="dk1"/>
                          </a:solidFill>
                          <a:effectLst/>
                        </a:rPr>
                        <a:t>atom_l</a:t>
                      </a:r>
                      <a:endParaRPr lang="zh-CN" altLang="en-US" sz="1800" b="1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endParaRPr sz="1100" b="0" i="0">
                        <a:solidFill>
                          <a:srgbClr val="CCCCCC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72160"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0" i="0">
                          <a:solidFill>
                            <a:schemeClr val="dk1"/>
                          </a:solidFill>
                          <a:effectLst/>
                        </a:rPr>
                        <a:t>5J20</a:t>
                      </a: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0" i="0">
                          <a:solidFill>
                            <a:schemeClr val="dk1"/>
                          </a:solidFill>
                          <a:effectLst/>
                        </a:rPr>
                        <a:t>6FJ :211</a:t>
                      </a: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0" i="0">
                          <a:solidFill>
                            <a:schemeClr val="dk1"/>
                          </a:solidFill>
                          <a:effectLst/>
                        </a:rPr>
                        <a:t>1261 (ASP79 OD2)</a:t>
                      </a: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0" i="0">
                          <a:solidFill>
                            <a:schemeClr val="dk1"/>
                          </a:solidFill>
                          <a:effectLst/>
                        </a:rPr>
                        <a:t>28 (O1)</a:t>
                      </a: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/>
                      <a:endParaRPr sz="1100" b="0" i="0">
                        <a:solidFill>
                          <a:srgbClr val="CCCCCC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71525"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0" i="0">
                          <a:solidFill>
                            <a:schemeClr val="dk1"/>
                          </a:solidFill>
                          <a:effectLst/>
                        </a:rPr>
                        <a:t>5J82</a:t>
                      </a: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0" i="0">
                          <a:solidFill>
                            <a:schemeClr val="dk1"/>
                          </a:solidFill>
                          <a:effectLst/>
                        </a:rPr>
                        <a:t>6GV :211</a:t>
                      </a: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0" i="0">
                          <a:solidFill>
                            <a:schemeClr val="dk1"/>
                          </a:solidFill>
                          <a:effectLst/>
                        </a:rPr>
                        <a:t>1266 (ASP79 OD2)</a:t>
                      </a: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0" i="0">
                          <a:solidFill>
                            <a:schemeClr val="dk1"/>
                          </a:solidFill>
                          <a:effectLst/>
                        </a:rPr>
                        <a:t>28 (O2)</a:t>
                      </a: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/>
                      <a:endParaRPr sz="1100" b="0" i="0">
                        <a:solidFill>
                          <a:srgbClr val="CCCCCC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72795"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0" i="0">
                          <a:solidFill>
                            <a:schemeClr val="dk1"/>
                          </a:solidFill>
                          <a:effectLst/>
                        </a:rPr>
                        <a:t>5J86</a:t>
                      </a: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0" i="0">
                          <a:solidFill>
                            <a:schemeClr val="dk1"/>
                          </a:solidFill>
                          <a:effectLst/>
                        </a:rPr>
                        <a:t>6GW :211</a:t>
                      </a: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0" i="0">
                          <a:solidFill>
                            <a:schemeClr val="dk1"/>
                          </a:solidFill>
                          <a:effectLst/>
                        </a:rPr>
                        <a:t>1266 (ASP79 OD2)</a:t>
                      </a: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0" i="0">
                          <a:solidFill>
                            <a:schemeClr val="dk1"/>
                          </a:solidFill>
                          <a:effectLst/>
                        </a:rPr>
                        <a:t>28 (O1)</a:t>
                      </a: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/>
                      <a:endParaRPr sz="1100" b="0" i="0">
                        <a:solidFill>
                          <a:srgbClr val="CCCCCC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71525"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0" i="0">
                          <a:solidFill>
                            <a:schemeClr val="dk1"/>
                          </a:solidFill>
                          <a:effectLst/>
                        </a:rPr>
                        <a:t>5J2X</a:t>
                      </a: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0" i="0">
                          <a:solidFill>
                            <a:schemeClr val="dk1"/>
                          </a:solidFill>
                          <a:effectLst/>
                        </a:rPr>
                        <a:t>6DL :212</a:t>
                      </a: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0" i="0">
                          <a:solidFill>
                            <a:schemeClr val="dk1"/>
                          </a:solidFill>
                          <a:effectLst/>
                        </a:rPr>
                        <a:t>1261 (ASP79 OD2)</a:t>
                      </a: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0" i="0">
                          <a:solidFill>
                            <a:schemeClr val="dk1"/>
                          </a:solidFill>
                          <a:effectLst/>
                        </a:rPr>
                        <a:t>1 (O2，配体第一个原子)</a:t>
                      </a: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/>
                      <a:endParaRPr sz="1100" b="0" i="0">
                        <a:solidFill>
                          <a:srgbClr val="CCCCCC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84020"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0" i="0">
                          <a:solidFill>
                            <a:schemeClr val="dk1"/>
                          </a:solidFill>
                          <a:effectLst/>
                        </a:rPr>
                        <a:t>5J64</a:t>
                      </a: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0" i="0">
                          <a:solidFill>
                            <a:schemeClr val="dk1"/>
                          </a:solidFill>
                          <a:effectLst/>
                        </a:rPr>
                        <a:t>6G7 :211</a:t>
                      </a: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0" i="0">
                          <a:solidFill>
                            <a:schemeClr val="dk1"/>
                          </a:solidFill>
                          <a:effectLst/>
                        </a:rPr>
                        <a:t>1266 (ASP79 OD2)</a:t>
                      </a: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t">
                        <a:buClrTx/>
                        <a:buSzTx/>
                        <a:buFontTx/>
                      </a:pPr>
                      <a:r>
                        <a:rPr lang="zh-CN" altLang="en-US" sz="1800" b="0" i="0">
                          <a:solidFill>
                            <a:schemeClr val="dk1"/>
                          </a:solidFill>
                          <a:effectLst/>
                        </a:rPr>
                        <a:t>1 (O2，配体第一个原子)</a:t>
                      </a:r>
                      <a:endParaRPr lang="zh-CN" altLang="en-US" sz="1800" b="0" i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2"/>
          <p:cNvSpPr/>
          <p:nvPr/>
        </p:nvSpPr>
        <p:spPr>
          <a:xfrm>
            <a:off x="6962400" y="225000"/>
            <a:ext cx="4116588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66FF"/>
                </a:solidFill>
                <a:uFillTx/>
                <a:latin typeface="Times New Roman" panose="02020503050405090304"/>
                <a:ea typeface="Microsoft YaHei"/>
              </a:rPr>
              <a:t>LiGaMD3 for </a:t>
            </a:r>
            <a:r>
              <a:rPr lang="en-US" b="1">
                <a:solidFill>
                  <a:srgbClr val="FF0000"/>
                </a:solidFill>
                <a:latin typeface="Times New Roman" panose="02020503050405090304"/>
                <a:ea typeface="Microsoft YaHei"/>
              </a:rPr>
              <a:t>HSP </a:t>
            </a:r>
            <a:r>
              <a:rPr lang="en-US" sz="1800" b="1" u="none" strike="noStrike">
                <a:solidFill>
                  <a:srgbClr val="FF0000"/>
                </a:solidFill>
                <a:uFillTx/>
                <a:latin typeface="Times New Roman" panose="02020503050405090304"/>
                <a:ea typeface="Microsoft YaHei"/>
              </a:rPr>
              <a:t>- </a:t>
            </a:r>
            <a:r>
              <a:rPr lang="en-US" b="1">
                <a:solidFill>
                  <a:srgbClr val="FF0000"/>
                </a:solidFill>
                <a:latin typeface="Times New Roman" panose="02020503050405090304"/>
                <a:ea typeface="Microsoft YaHei"/>
              </a:rPr>
              <a:t>5OCI</a:t>
            </a:r>
            <a:r>
              <a:rPr lang="en-US" sz="1800" b="0" u="none" strike="noStrike">
                <a:solidFill>
                  <a:schemeClr val="dk1"/>
                </a:solidFill>
                <a:uFillTx/>
                <a:latin typeface="Times New Roman" panose="02020503050405090304"/>
                <a:ea typeface="Microsoft YaHei"/>
              </a:rPr>
              <a:t> </a:t>
            </a:r>
            <a:endParaRPr lang="en-US" sz="1800" b="0" u="none" strike="noStrike">
              <a:solidFill>
                <a:schemeClr val="dk1"/>
              </a:solidFill>
              <a:uFillTx/>
              <a:latin typeface="Arial" panose="020B0604020202090204"/>
              <a:cs typeface="Arial" panose="020B0604020202090204"/>
            </a:endParaRPr>
          </a:p>
        </p:txBody>
      </p:sp>
      <p:sp>
        <p:nvSpPr>
          <p:cNvPr id="140" name="TextBox 4"/>
          <p:cNvSpPr/>
          <p:nvPr/>
        </p:nvSpPr>
        <p:spPr>
          <a:xfrm>
            <a:off x="1325520" y="5657400"/>
            <a:ext cx="21232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FF0000"/>
                </a:solidFill>
                <a:uFillTx/>
                <a:latin typeface="Times New Roman" panose="02020503050405090304"/>
                <a:ea typeface="等线"/>
              </a:rPr>
              <a:t> 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90204"/>
            </a:endParaRPr>
          </a:p>
        </p:txBody>
      </p:sp>
      <p:sp>
        <p:nvSpPr>
          <p:cNvPr id="141" name="文本框 5"/>
          <p:cNvSpPr/>
          <p:nvPr/>
        </p:nvSpPr>
        <p:spPr>
          <a:xfrm>
            <a:off x="1170720" y="64800"/>
            <a:ext cx="3105000" cy="4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90000" tIns="45000" rIns="90000" bIns="45000" numCol="1" spcCol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600" b="1" u="none" strike="noStrike">
                <a:solidFill>
                  <a:srgbClr val="3366FF"/>
                </a:solidFill>
                <a:uFillTx/>
                <a:latin typeface="Microsoft YaHei"/>
                <a:ea typeface="Microsoft YaHei"/>
              </a:rPr>
              <a:t>2. Experiment</a:t>
            </a:r>
            <a:endParaRPr lang="en-US" sz="2600" b="0" u="none" strike="noStrike">
              <a:solidFill>
                <a:srgbClr val="000000"/>
              </a:solidFill>
              <a:uFillTx/>
              <a:latin typeface="Arial" panose="020B0604020202090204"/>
            </a:endParaRPr>
          </a:p>
        </p:txBody>
      </p:sp>
      <p:pic>
        <p:nvPicPr>
          <p:cNvPr id="2" name="图片 1" descr="图形用户界面, 文本, 应用程序, 电子邮件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4283" y="775243"/>
            <a:ext cx="3696629" cy="5744271"/>
          </a:xfrm>
          <a:prstGeom prst="rect">
            <a:avLst/>
          </a:prstGeom>
        </p:spPr>
      </p:pic>
      <p:pic>
        <p:nvPicPr>
          <p:cNvPr id="3" name="图片 2" descr="图形用户界面, 文本, 应用程序, 电子邮件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" y="1718449"/>
            <a:ext cx="2598002" cy="3322135"/>
          </a:xfrm>
          <a:prstGeom prst="rect">
            <a:avLst/>
          </a:prstGeom>
        </p:spPr>
      </p:pic>
      <p:pic>
        <p:nvPicPr>
          <p:cNvPr id="4" name="图片 3" descr="图形用户界面, 文本, 应用程序, 电子邮件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068" y="808462"/>
            <a:ext cx="3688423" cy="52503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2"/>
          <p:cNvSpPr/>
          <p:nvPr/>
        </p:nvSpPr>
        <p:spPr>
          <a:xfrm>
            <a:off x="6962400" y="225000"/>
            <a:ext cx="4116588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66FF"/>
                </a:solidFill>
                <a:uFillTx/>
                <a:latin typeface="Times New Roman" panose="02020503050405090304"/>
                <a:ea typeface="Microsoft YaHei"/>
              </a:rPr>
              <a:t>LiGaMD3 for </a:t>
            </a:r>
            <a:r>
              <a:rPr lang="en-US" b="1">
                <a:solidFill>
                  <a:srgbClr val="FF0000"/>
                </a:solidFill>
                <a:latin typeface="Times New Roman" panose="02020503050405090304"/>
                <a:ea typeface="Microsoft YaHei"/>
              </a:rPr>
              <a:t>HSP </a:t>
            </a:r>
            <a:r>
              <a:rPr lang="en-US" sz="1800" b="1" u="none" strike="noStrike">
                <a:solidFill>
                  <a:srgbClr val="FF0000"/>
                </a:solidFill>
                <a:uFillTx/>
                <a:latin typeface="Times New Roman" panose="02020503050405090304"/>
                <a:ea typeface="Microsoft YaHei"/>
              </a:rPr>
              <a:t>- </a:t>
            </a:r>
            <a:r>
              <a:rPr lang="en-US" b="1">
                <a:solidFill>
                  <a:srgbClr val="FF0000"/>
                </a:solidFill>
                <a:latin typeface="Times New Roman" panose="02020503050405090304"/>
                <a:ea typeface="Microsoft YaHei"/>
              </a:rPr>
              <a:t>5OCI</a:t>
            </a:r>
            <a:r>
              <a:rPr lang="en-US" sz="1800" b="0" u="none" strike="noStrike">
                <a:solidFill>
                  <a:schemeClr val="dk1"/>
                </a:solidFill>
                <a:uFillTx/>
                <a:latin typeface="Times New Roman" panose="02020503050405090304"/>
                <a:ea typeface="Microsoft YaHei"/>
              </a:rPr>
              <a:t> </a:t>
            </a:r>
            <a:endParaRPr lang="en-US" sz="1800" b="0" u="none" strike="noStrike">
              <a:solidFill>
                <a:schemeClr val="dk1"/>
              </a:solidFill>
              <a:uFillTx/>
              <a:latin typeface="Arial" panose="020B0604020202090204"/>
              <a:cs typeface="Arial" panose="020B0604020202090204"/>
            </a:endParaRPr>
          </a:p>
        </p:txBody>
      </p:sp>
      <p:sp>
        <p:nvSpPr>
          <p:cNvPr id="140" name="TextBox 4"/>
          <p:cNvSpPr/>
          <p:nvPr/>
        </p:nvSpPr>
        <p:spPr>
          <a:xfrm>
            <a:off x="1325520" y="5657400"/>
            <a:ext cx="21232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FF0000"/>
                </a:solidFill>
                <a:uFillTx/>
                <a:latin typeface="Times New Roman" panose="02020503050405090304"/>
                <a:ea typeface="等线"/>
              </a:rPr>
              <a:t> 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90204"/>
            </a:endParaRPr>
          </a:p>
        </p:txBody>
      </p:sp>
      <p:sp>
        <p:nvSpPr>
          <p:cNvPr id="141" name="文本框 5"/>
          <p:cNvSpPr/>
          <p:nvPr/>
        </p:nvSpPr>
        <p:spPr>
          <a:xfrm>
            <a:off x="1170720" y="64800"/>
            <a:ext cx="3105000" cy="4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90000" tIns="45000" rIns="90000" bIns="45000" numCol="1" spcCol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600" b="1" u="none" strike="noStrike">
                <a:solidFill>
                  <a:srgbClr val="3366FF"/>
                </a:solidFill>
                <a:uFillTx/>
                <a:latin typeface="Microsoft YaHei"/>
                <a:ea typeface="Microsoft YaHei"/>
              </a:rPr>
              <a:t>2. Experiment</a:t>
            </a:r>
            <a:endParaRPr lang="en-US" sz="2600" b="0" u="none" strike="noStrike">
              <a:solidFill>
                <a:srgbClr val="000000"/>
              </a:solidFill>
              <a:uFillTx/>
              <a:latin typeface="Arial" panose="020B0604020202090204"/>
            </a:endParaRPr>
          </a:p>
        </p:txBody>
      </p:sp>
      <p:pic>
        <p:nvPicPr>
          <p:cNvPr id="3" name="图片 2" descr="图示&#10;&#10;AI 生成的内容可能不正确。"/>
          <p:cNvPicPr>
            <a:picLocks noChangeAspect="1"/>
          </p:cNvPicPr>
          <p:nvPr/>
        </p:nvPicPr>
        <p:blipFill>
          <a:blip r:embed="rId1"/>
          <a:srcRect l="7082" t="933" r="21341"/>
          <a:stretch>
            <a:fillRect/>
          </a:stretch>
        </p:blipFill>
        <p:spPr>
          <a:xfrm>
            <a:off x="7399381" y="1349996"/>
            <a:ext cx="4248727" cy="3344031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853537" y="696923"/>
            <a:ext cx="3573438" cy="9220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lvl="1"/>
            <a:r>
              <a:rPr lang="en-US" altLang="zh-CN" err="1">
                <a:solidFill>
                  <a:srgbClr val="2E2E2E"/>
                </a:solidFill>
                <a:latin typeface="Roboto"/>
              </a:rPr>
              <a:t>ibblig</a:t>
            </a:r>
            <a:r>
              <a:rPr lang="en-US" altLang="zh-CN">
                <a:solidFill>
                  <a:srgbClr val="2E2E2E"/>
                </a:solidFill>
                <a:latin typeface="Roboto"/>
              </a:rPr>
              <a:t> = 1, </a:t>
            </a:r>
            <a:r>
              <a:rPr lang="en-US" altLang="zh-CN" err="1">
                <a:solidFill>
                  <a:srgbClr val="2E2E2E"/>
                </a:solidFill>
                <a:latin typeface="Roboto"/>
              </a:rPr>
              <a:t>nlig</a:t>
            </a:r>
            <a:r>
              <a:rPr lang="en-US" altLang="zh-CN">
                <a:solidFill>
                  <a:srgbClr val="2E2E2E"/>
                </a:solidFill>
                <a:latin typeface="Roboto"/>
              </a:rPr>
              <a:t> = 1, </a:t>
            </a:r>
            <a:r>
              <a:rPr lang="en-US" altLang="zh-CN" err="1">
                <a:solidFill>
                  <a:srgbClr val="2E2E2E"/>
                </a:solidFill>
                <a:latin typeface="Roboto"/>
              </a:rPr>
              <a:t>atom_p</a:t>
            </a:r>
            <a:r>
              <a:rPr lang="en-US" altLang="zh-CN">
                <a:solidFill>
                  <a:srgbClr val="2E2E2E"/>
                </a:solidFill>
                <a:latin typeface="Roboto"/>
              </a:rPr>
              <a:t> =</a:t>
            </a:r>
            <a:r>
              <a:rPr lang="zh-CN" altLang="en-US" b="1">
                <a:solidFill>
                  <a:srgbClr val="FF0000"/>
                </a:solidFill>
                <a:ea typeface="等线"/>
                <a:sym typeface="+mn-ea"/>
              </a:rPr>
              <a:t>1251</a:t>
            </a:r>
            <a:r>
              <a:rPr lang="en-US" altLang="zh-CN">
                <a:solidFill>
                  <a:srgbClr val="2E2E2E"/>
                </a:solidFill>
                <a:latin typeface="Roboto"/>
              </a:rPr>
              <a:t>, </a:t>
            </a:r>
            <a:r>
              <a:rPr lang="en-US" altLang="zh-CN" err="1">
                <a:solidFill>
                  <a:srgbClr val="2E2E2E"/>
                </a:solidFill>
                <a:latin typeface="Roboto"/>
              </a:rPr>
              <a:t>atom_l</a:t>
            </a:r>
            <a:r>
              <a:rPr lang="en-US" altLang="zh-CN">
                <a:solidFill>
                  <a:srgbClr val="2E2E2E"/>
                </a:solidFill>
                <a:latin typeface="Roboto"/>
              </a:rPr>
              <a:t> =</a:t>
            </a:r>
            <a:r>
              <a:rPr lang="zh-CN" altLang="en-US" b="1">
                <a:solidFill>
                  <a:srgbClr val="FF0000"/>
                </a:solidFill>
                <a:ea typeface="等线"/>
                <a:sym typeface="+mn-ea"/>
              </a:rPr>
              <a:t>31</a:t>
            </a:r>
            <a:endParaRPr lang="zh-CN">
              <a:ea typeface="等线"/>
            </a:endParaRPr>
          </a:p>
          <a:p>
            <a:pPr lvl="1"/>
            <a:r>
              <a:rPr lang="en-US" altLang="zh-CN">
                <a:solidFill>
                  <a:srgbClr val="2E2E2E"/>
                </a:solidFill>
                <a:latin typeface="Roboto"/>
              </a:rPr>
              <a:t>, </a:t>
            </a:r>
            <a:r>
              <a:rPr lang="en-US" altLang="zh-CN" err="1">
                <a:solidFill>
                  <a:srgbClr val="2E2E2E"/>
                </a:solidFill>
                <a:latin typeface="Roboto"/>
              </a:rPr>
              <a:t>dblig</a:t>
            </a:r>
            <a:r>
              <a:rPr lang="en-US" altLang="zh-CN">
                <a:solidFill>
                  <a:srgbClr val="2E2E2E"/>
                </a:solidFill>
                <a:latin typeface="Roboto"/>
              </a:rPr>
              <a:t> = 3,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17558" y="892583"/>
            <a:ext cx="6212306" cy="36825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zh-CN" err="1">
                <a:latin typeface="Times New Roman" panose="02020503050405090304"/>
                <a:cs typeface="Times New Roman" panose="02020503050405090304"/>
              </a:rPr>
              <a:t>natoms</a:t>
            </a:r>
            <a:r>
              <a:rPr lang="en-GB" altLang="zh-CN">
                <a:latin typeface="Times New Roman" panose="02020503050405090304"/>
                <a:cs typeface="Times New Roman" panose="02020503050405090304"/>
              </a:rPr>
              <a:t>= 3329 // the number of protein atoms in the system.</a:t>
            </a:r>
            <a:br>
              <a:rPr lang="en-GB" altLang="zh-CN">
                <a:latin typeface="Times New Roman" panose="02020503050405090304"/>
                <a:cs typeface="Times New Roman" panose="02020503050405090304"/>
              </a:rPr>
            </a:br>
            <a:r>
              <a:rPr lang="en-GB" altLang="zh-CN" err="1">
                <a:latin typeface="Times New Roman" panose="02020503050405090304"/>
                <a:cs typeface="Times New Roman" panose="02020503050405090304"/>
              </a:rPr>
              <a:t>natoms_max</a:t>
            </a:r>
            <a:r>
              <a:rPr lang="en-GB" altLang="zh-CN">
                <a:latin typeface="Times New Roman" panose="02020503050405090304"/>
                <a:cs typeface="Times New Roman" panose="02020503050405090304"/>
              </a:rPr>
              <a:t>= 36200 // the total number of atoms in the system</a:t>
            </a:r>
            <a:br>
              <a:rPr lang="en-GB" altLang="zh-CN">
                <a:latin typeface="Times New Roman" panose="02020503050405090304"/>
                <a:cs typeface="Times New Roman" panose="02020503050405090304"/>
              </a:rPr>
            </a:br>
            <a:r>
              <a:rPr lang="en-GB" altLang="zh-CN" err="1">
                <a:latin typeface="Times New Roman" panose="02020503050405090304"/>
                <a:cs typeface="Times New Roman" panose="02020503050405090304"/>
              </a:rPr>
              <a:t>ntwx</a:t>
            </a:r>
            <a:r>
              <a:rPr lang="en-GB" altLang="zh-CN">
                <a:latin typeface="Times New Roman" panose="02020503050405090304"/>
                <a:cs typeface="Times New Roman" panose="02020503050405090304"/>
              </a:rPr>
              <a:t>= 1000 // the steps to write the trajectory (default)</a:t>
            </a:r>
            <a:br>
              <a:rPr lang="en-GB" altLang="zh-CN">
                <a:latin typeface="Times New Roman" panose="02020503050405090304"/>
                <a:cs typeface="Times New Roman" panose="02020503050405090304"/>
              </a:rPr>
            </a:br>
            <a:r>
              <a:rPr lang="en-GB" altLang="zh-CN" b="1" err="1">
                <a:solidFill>
                  <a:schemeClr val="accent5"/>
                </a:solidFill>
                <a:latin typeface="Times New Roman" panose="02020503050405090304"/>
                <a:cs typeface="Times New Roman" panose="02020503050405090304"/>
              </a:rPr>
              <a:t>ntwprt</a:t>
            </a:r>
            <a:r>
              <a:rPr lang="en-GB" altLang="zh-CN">
                <a:latin typeface="Times New Roman" panose="02020503050405090304"/>
                <a:cs typeface="Times New Roman" panose="02020503050405090304"/>
              </a:rPr>
              <a:t>= </a:t>
            </a:r>
            <a:r>
              <a:rPr lang="en-GB" altLang="zh-CN" err="1">
                <a:latin typeface="Times New Roman" panose="02020503050405090304"/>
                <a:cs typeface="Times New Roman" panose="02020503050405090304"/>
              </a:rPr>
              <a:t>natoms</a:t>
            </a:r>
            <a:r>
              <a:rPr lang="en-GB" altLang="zh-CN">
                <a:latin typeface="Times New Roman" panose="02020503050405090304"/>
                <a:cs typeface="Times New Roman" panose="02020503050405090304"/>
              </a:rPr>
              <a:t>= 3329 // the number of protein complex atoms</a:t>
            </a:r>
            <a:br>
              <a:rPr lang="en-GB" altLang="zh-CN">
                <a:latin typeface="Times New Roman" panose="02020503050405090304"/>
                <a:cs typeface="Times New Roman" panose="02020503050405090304"/>
              </a:rPr>
            </a:br>
            <a:r>
              <a:rPr lang="en-GB" altLang="zh-CN" b="1" err="1">
                <a:solidFill>
                  <a:schemeClr val="accent5"/>
                </a:solidFill>
                <a:latin typeface="Times New Roman" panose="02020503050405090304"/>
                <a:cs typeface="Times New Roman" panose="02020503050405090304"/>
              </a:rPr>
              <a:t>igamd</a:t>
            </a:r>
            <a:r>
              <a:rPr lang="en-GB" altLang="zh-CN">
                <a:latin typeface="Times New Roman" panose="02020503050405090304"/>
                <a:cs typeface="Times New Roman" panose="02020503050405090304"/>
              </a:rPr>
              <a:t>= 28 (default) // </a:t>
            </a:r>
            <a:r>
              <a:rPr lang="en-GB" altLang="zh-CN" err="1">
                <a:latin typeface="Times New Roman" panose="02020503050405090304"/>
                <a:cs typeface="Times New Roman" panose="02020503050405090304"/>
              </a:rPr>
              <a:t>gamd</a:t>
            </a:r>
            <a:br>
              <a:rPr lang="en-GB" altLang="zh-CN">
                <a:latin typeface="Times New Roman" panose="02020503050405090304"/>
                <a:cs typeface="Times New Roman" panose="02020503050405090304"/>
              </a:rPr>
            </a:br>
            <a:r>
              <a:rPr lang="en-GB" altLang="zh-CN" b="1" err="1">
                <a:solidFill>
                  <a:schemeClr val="accent5"/>
                </a:solidFill>
                <a:latin typeface="Times New Roman" panose="02020503050405090304"/>
                <a:cs typeface="Times New Roman" panose="02020503050405090304"/>
              </a:rPr>
              <a:t>ntave</a:t>
            </a:r>
            <a:r>
              <a:rPr lang="en-GB" altLang="zh-CN">
                <a:latin typeface="Times New Roman" panose="02020503050405090304"/>
                <a:cs typeface="Times New Roman" panose="02020503050405090304"/>
              </a:rPr>
              <a:t>= 4 x </a:t>
            </a:r>
            <a:r>
              <a:rPr lang="en-GB" altLang="zh-CN" err="1">
                <a:latin typeface="Times New Roman" panose="02020503050405090304"/>
                <a:cs typeface="Times New Roman" panose="02020503050405090304"/>
              </a:rPr>
              <a:t>natoms_max</a:t>
            </a:r>
            <a:r>
              <a:rPr lang="en-GB" altLang="zh-CN">
                <a:latin typeface="Times New Roman" panose="02020503050405090304"/>
                <a:cs typeface="Times New Roman" panose="02020503050405090304"/>
              </a:rPr>
              <a:t> = 4 x </a:t>
            </a:r>
            <a:r>
              <a:rPr lang="en-GB" altLang="zh-CN">
                <a:latin typeface="Times New Roman" panose="02020503050405090304"/>
                <a:ea typeface="+mn-lt"/>
                <a:cs typeface="Times New Roman" panose="02020503050405090304"/>
              </a:rPr>
              <a:t>36200 </a:t>
            </a:r>
            <a:r>
              <a:rPr lang="en-GB" altLang="zh-CN">
                <a:latin typeface="Times New Roman" panose="02020503050405090304"/>
                <a:cs typeface="Times New Roman" panose="02020503050405090304"/>
              </a:rPr>
              <a:t> = </a:t>
            </a:r>
            <a:r>
              <a:rPr lang="en-GB" altLang="zh-CN">
                <a:latin typeface="Times New Roman" panose="02020503050405090304"/>
                <a:ea typeface="+mn-lt"/>
                <a:cs typeface="Times New Roman" panose="02020503050405090304"/>
              </a:rPr>
              <a:t>139428</a:t>
            </a:r>
            <a:r>
              <a:rPr lang="en-US">
                <a:latin typeface="Times New Roman" panose="02020503050405090304"/>
                <a:ea typeface="+mn-lt"/>
                <a:cs typeface="Times New Roman" panose="02020503050405090304"/>
              </a:rPr>
              <a:t> ~ </a:t>
            </a:r>
            <a:r>
              <a:rPr lang="en-US">
                <a:solidFill>
                  <a:srgbClr val="FF0000"/>
                </a:solidFill>
                <a:latin typeface="Times New Roman" panose="02020503050405090304"/>
                <a:ea typeface="+mn-lt"/>
                <a:cs typeface="Times New Roman" panose="02020503050405090304"/>
              </a:rPr>
              <a:t>20</a:t>
            </a:r>
            <a:r>
              <a:rPr lang="en-US" b="1">
                <a:solidFill>
                  <a:srgbClr val="FF0000"/>
                </a:solidFill>
                <a:latin typeface="Times New Roman" panose="02020503050405090304"/>
                <a:ea typeface="+mn-lt"/>
                <a:cs typeface="Times New Roman" panose="02020503050405090304"/>
              </a:rPr>
              <a:t>0000</a:t>
            </a:r>
            <a:endParaRPr lang="en-US" altLang="zh-CN">
              <a:latin typeface="Times New Roman" panose="02020503050405090304"/>
              <a:cs typeface="Times New Roman" panose="02020503050405090304"/>
            </a:endParaRPr>
          </a:p>
          <a:p>
            <a:r>
              <a:rPr lang="en-GB">
                <a:latin typeface="Times New Roman" panose="02020503050405090304"/>
                <a:cs typeface="Times New Roman" panose="02020503050405090304"/>
              </a:rPr>
              <a:t>(Always make it a whole number) </a:t>
            </a:r>
            <a:endParaRPr lang="en-US">
              <a:latin typeface="Times New Roman" panose="02020503050405090304"/>
              <a:cs typeface="Times New Roman" panose="02020503050405090304"/>
            </a:endParaRPr>
          </a:p>
          <a:p>
            <a:r>
              <a:rPr lang="en-GB" b="1" err="1">
                <a:solidFill>
                  <a:schemeClr val="accent5"/>
                </a:solidFill>
                <a:latin typeface="Times New Roman" panose="02020503050405090304"/>
                <a:cs typeface="Times New Roman" panose="02020503050405090304"/>
              </a:rPr>
              <a:t>ntcmd</a:t>
            </a:r>
            <a:r>
              <a:rPr lang="en-GB">
                <a:latin typeface="Times New Roman" panose="02020503050405090304"/>
                <a:cs typeface="Times New Roman" panose="02020503050405090304"/>
              </a:rPr>
              <a:t>= 5 x </a:t>
            </a:r>
            <a:r>
              <a:rPr lang="en-GB" err="1">
                <a:latin typeface="Times New Roman" panose="02020503050405090304"/>
                <a:cs typeface="Times New Roman" panose="02020503050405090304"/>
              </a:rPr>
              <a:t>ntave</a:t>
            </a:r>
            <a:r>
              <a:rPr lang="en-GB">
                <a:latin typeface="Times New Roman" panose="02020503050405090304"/>
                <a:cs typeface="Times New Roman" panose="02020503050405090304"/>
              </a:rPr>
              <a:t> = 10 x 200,000 = 2,000,000</a:t>
            </a:r>
            <a:br>
              <a:rPr lang="en-GB">
                <a:latin typeface="Times New Roman" panose="02020503050405090304"/>
                <a:cs typeface="Times New Roman" panose="02020503050405090304"/>
              </a:rPr>
            </a:br>
            <a:r>
              <a:rPr lang="en-GB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ntcmdprep</a:t>
            </a:r>
            <a:r>
              <a:rPr lang="en-GB">
                <a:latin typeface="Times New Roman" panose="02020503050405090304"/>
                <a:cs typeface="Times New Roman" panose="02020503050405090304"/>
              </a:rPr>
              <a:t>= 2 x </a:t>
            </a:r>
            <a:r>
              <a:rPr lang="en-GB" err="1">
                <a:latin typeface="Times New Roman" panose="02020503050405090304"/>
                <a:cs typeface="Times New Roman" panose="02020503050405090304"/>
              </a:rPr>
              <a:t>ntave</a:t>
            </a:r>
            <a:r>
              <a:rPr lang="en-GB">
                <a:latin typeface="Times New Roman" panose="02020503050405090304"/>
                <a:cs typeface="Times New Roman" panose="02020503050405090304"/>
              </a:rPr>
              <a:t> = 2 x 200,000 = 400,000</a:t>
            </a:r>
            <a:br>
              <a:rPr lang="en-GB">
                <a:latin typeface="Times New Roman" panose="02020503050405090304"/>
                <a:cs typeface="Times New Roman" panose="02020503050405090304"/>
              </a:rPr>
            </a:br>
            <a:r>
              <a:rPr lang="en-GB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ntebprep</a:t>
            </a:r>
            <a:r>
              <a:rPr lang="en-GB">
                <a:latin typeface="Times New Roman" panose="02020503050405090304"/>
                <a:cs typeface="Times New Roman" panose="02020503050405090304"/>
              </a:rPr>
              <a:t>= 2 x ntave= 2 x 200,000 = </a:t>
            </a:r>
            <a:r>
              <a:rPr lang="en-GB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400,000</a:t>
            </a:r>
            <a:br>
              <a:rPr lang="en-GB">
                <a:latin typeface="Times New Roman" panose="02020503050405090304"/>
                <a:cs typeface="Times New Roman" panose="02020503050405090304"/>
              </a:rPr>
            </a:br>
            <a:r>
              <a:rPr lang="en-GB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nteb</a:t>
            </a:r>
            <a:r>
              <a:rPr lang="en-GB">
                <a:latin typeface="Times New Roman" panose="02020503050405090304"/>
                <a:cs typeface="Times New Roman" panose="02020503050405090304"/>
              </a:rPr>
              <a:t>= 45</a:t>
            </a:r>
            <a:r>
              <a:rPr lang="en-US">
                <a:latin typeface="Times New Roman" panose="02020503050405090304"/>
                <a:cs typeface="Times New Roman" panose="02020503050405090304"/>
              </a:rPr>
              <a:t> </a:t>
            </a:r>
            <a:r>
              <a:rPr lang="en-GB">
                <a:latin typeface="Times New Roman" panose="02020503050405090304"/>
                <a:cs typeface="Times New Roman" panose="02020503050405090304"/>
              </a:rPr>
              <a:t>x ntave= 100</a:t>
            </a:r>
            <a:r>
              <a:rPr lang="en-US">
                <a:latin typeface="Times New Roman" panose="02020503050405090304"/>
                <a:cs typeface="Times New Roman" panose="02020503050405090304"/>
              </a:rPr>
              <a:t> </a:t>
            </a:r>
            <a:r>
              <a:rPr lang="en-GB">
                <a:latin typeface="Times New Roman" panose="02020503050405090304"/>
                <a:cs typeface="Times New Roman" panose="02020503050405090304"/>
              </a:rPr>
              <a:t>x 200,000 = </a:t>
            </a:r>
            <a:r>
              <a:rPr lang="en-US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20,000,000</a:t>
            </a:r>
            <a:br>
              <a:rPr lang="en-US">
                <a:latin typeface="Times New Roman" panose="02020503050405090304"/>
                <a:cs typeface="Times New Roman" panose="02020503050405090304"/>
              </a:rPr>
            </a:br>
            <a:r>
              <a:rPr lang="en-US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nstlim</a:t>
            </a:r>
            <a:r>
              <a:rPr lang="en-GB">
                <a:latin typeface="Times New Roman" panose="02020503050405090304"/>
                <a:cs typeface="Times New Roman" panose="02020503050405090304"/>
              </a:rPr>
              <a:t>= </a:t>
            </a:r>
            <a:r>
              <a:rPr lang="en-GB" err="1">
                <a:latin typeface="Times New Roman" panose="02020503050405090304"/>
                <a:cs typeface="Times New Roman" panose="02020503050405090304"/>
              </a:rPr>
              <a:t>nteb</a:t>
            </a:r>
            <a:r>
              <a:rPr lang="en-GB">
                <a:latin typeface="Times New Roman" panose="02020503050405090304"/>
                <a:cs typeface="Times New Roman" panose="02020503050405090304"/>
              </a:rPr>
              <a:t> + ntcmd= 20,00</a:t>
            </a:r>
            <a:r>
              <a:rPr lang="en-US">
                <a:latin typeface="Times New Roman" panose="02020503050405090304"/>
                <a:cs typeface="Times New Roman" panose="02020503050405090304"/>
              </a:rPr>
              <a:t>0,000</a:t>
            </a:r>
            <a:r>
              <a:rPr lang="en-GB">
                <a:latin typeface="Times New Roman" panose="02020503050405090304"/>
                <a:cs typeface="Times New Roman" panose="02020503050405090304"/>
              </a:rPr>
              <a:t> + 2000,000 = 22</a:t>
            </a:r>
            <a:r>
              <a:rPr lang="en-US">
                <a:latin typeface="Times New Roman" panose="02020503050405090304"/>
                <a:cs typeface="Times New Roman" panose="02020503050405090304"/>
              </a:rPr>
              <a:t>,000,000</a:t>
            </a:r>
            <a:endParaRPr lang="en-US">
              <a:latin typeface="Times New Roman" panose="02020503050405090304"/>
              <a:ea typeface="等线"/>
              <a:cs typeface="Times New Roman" panose="02020503050405090304"/>
            </a:endParaRPr>
          </a:p>
          <a:p>
            <a:r>
              <a:rPr lang="en-GB">
                <a:latin typeface="Times New Roman" panose="02020503050405090304"/>
                <a:cs typeface="Times New Roman" panose="02020503050405090304"/>
              </a:rPr>
              <a:t>/500,000 = 44</a:t>
            </a:r>
            <a:r>
              <a:rPr lang="en-GB" b="1">
                <a:latin typeface="Times New Roman" panose="02020503050405090304"/>
                <a:cs typeface="Times New Roman" panose="02020503050405090304"/>
              </a:rPr>
              <a:t> ns </a:t>
            </a:r>
            <a:endParaRPr lang="en-GB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42632" y="4783016"/>
            <a:ext cx="11955085" cy="207040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altLang="zh-CN" b="1">
                <a:solidFill>
                  <a:schemeClr val="accent5"/>
                </a:solidFill>
              </a:rPr>
              <a:t>Bgpro2atm</a:t>
            </a:r>
            <a:r>
              <a:rPr lang="en-US" altLang="zh-CN"/>
              <a:t>= 1,         //Start atomic number of the protein region. </a:t>
            </a:r>
            <a:endParaRPr lang="zh-CN" altLang="en-US"/>
          </a:p>
          <a:p>
            <a:r>
              <a:rPr lang="en-US" altLang="zh-CN" b="1">
                <a:solidFill>
                  <a:schemeClr val="accent5"/>
                </a:solidFill>
              </a:rPr>
              <a:t>Edpro2atm</a:t>
            </a:r>
            <a:r>
              <a:rPr lang="en-US" altLang="zh-CN"/>
              <a:t>= 3267,        //End atomic number of </a:t>
            </a:r>
            <a:r>
              <a:rPr lang="en-US" altLang="zh-CN">
                <a:solidFill>
                  <a:srgbClr val="FF0000"/>
                </a:solidFill>
              </a:rPr>
              <a:t>t</a:t>
            </a:r>
            <a:r>
              <a:rPr lang="en-US" altLang="zh-CN"/>
              <a:t>he protein region.</a:t>
            </a:r>
            <a:endParaRPr lang="en-US" altLang="zh-CN">
              <a:ea typeface="等线"/>
            </a:endParaRPr>
          </a:p>
          <a:p>
            <a:endParaRPr lang="en-US" altLang="zh-CN">
              <a:ea typeface="等线"/>
            </a:endParaRPr>
          </a:p>
          <a:p>
            <a:r>
              <a:rPr lang="en-US" b="1">
                <a:solidFill>
                  <a:schemeClr val="accent5"/>
                </a:solidFill>
                <a:ea typeface="+mn-lt"/>
                <a:cs typeface="+mn-lt"/>
              </a:rPr>
              <a:t>Timask1</a:t>
            </a:r>
            <a:r>
              <a:rPr lang="en-US">
                <a:ea typeface="+mn-lt"/>
                <a:cs typeface="+mn-lt"/>
              </a:rPr>
              <a:t>: ‘:210'  //Specifies atoms of the ligand. This variable has already been used in AMBER. The default is an empty string.</a:t>
            </a:r>
            <a:endParaRPr lang="en-US">
              <a:ea typeface="等线"/>
            </a:endParaRPr>
          </a:p>
          <a:p>
            <a:r>
              <a:rPr lang="en-US" b="1">
                <a:solidFill>
                  <a:schemeClr val="accent5"/>
                </a:solidFill>
                <a:ea typeface="+mn-lt"/>
                <a:cs typeface="+mn-lt"/>
              </a:rPr>
              <a:t>Scmask1</a:t>
            </a:r>
            <a:r>
              <a:rPr lang="en-US">
                <a:ea typeface="+mn-lt"/>
                <a:cs typeface="+mn-lt"/>
              </a:rPr>
              <a:t>: ‘:210'  //Specifies atoms of the ligand that will be described using soft core in </a:t>
            </a:r>
            <a:r>
              <a:rPr lang="en-US" err="1">
                <a:ea typeface="+mn-lt"/>
                <a:cs typeface="+mn-lt"/>
              </a:rPr>
              <a:t>ambmask</a:t>
            </a:r>
            <a:r>
              <a:rPr lang="en-US">
                <a:ea typeface="+mn-lt"/>
                <a:cs typeface="+mn-lt"/>
              </a:rPr>
              <a:t> format. The</a:t>
            </a:r>
            <a:endParaRPr lang="en-US">
              <a:ea typeface="等线"/>
            </a:endParaRPr>
          </a:p>
          <a:p>
            <a:r>
              <a:rPr lang="en-US">
                <a:ea typeface="+mn-lt"/>
                <a:cs typeface="+mn-lt"/>
              </a:rPr>
              <a:t>default is an empty string.</a:t>
            </a:r>
            <a:endParaRPr lang="en-US"/>
          </a:p>
        </p:txBody>
      </p:sp>
      <p:sp>
        <p:nvSpPr>
          <p:cNvPr id="4" name="文本框 3"/>
          <p:cNvSpPr txBox="1"/>
          <p:nvPr/>
        </p:nvSpPr>
        <p:spPr>
          <a:xfrm>
            <a:off x="8648839" y="4917051"/>
            <a:ext cx="267115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zh-CN" altLang="en-US" b="1">
                <a:ea typeface="等线"/>
              </a:rPr>
              <a:t>ASP/78-OD2-</a:t>
            </a:r>
            <a:r>
              <a:rPr lang="zh-CN" altLang="en-US" b="1">
                <a:solidFill>
                  <a:srgbClr val="FF0000"/>
                </a:solidFill>
                <a:ea typeface="等线"/>
              </a:rPr>
              <a:t>1251</a:t>
            </a:r>
            <a:endParaRPr lang="zh-CN" altLang="en-US" b="1">
              <a:ea typeface="等线"/>
            </a:endParaRPr>
          </a:p>
          <a:p>
            <a:r>
              <a:rPr lang="zh-CN" altLang="en-US" b="1">
                <a:ea typeface="等线"/>
              </a:rPr>
              <a:t>9R8/ 210-O2-</a:t>
            </a:r>
            <a:r>
              <a:rPr lang="zh-CN" altLang="en-US" b="1">
                <a:solidFill>
                  <a:srgbClr val="FF0000"/>
                </a:solidFill>
                <a:ea typeface="等线"/>
              </a:rPr>
              <a:t>31</a:t>
            </a:r>
            <a:endParaRPr lang="zh-CN">
              <a:ea typeface="等线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2"/>
          <p:cNvSpPr/>
          <p:nvPr/>
        </p:nvSpPr>
        <p:spPr>
          <a:xfrm>
            <a:off x="6962400" y="225000"/>
            <a:ext cx="4116588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66FF"/>
                </a:solidFill>
                <a:uFillTx/>
                <a:latin typeface="Times New Roman" panose="02020503050405090304"/>
                <a:ea typeface="Microsoft YaHei"/>
              </a:rPr>
              <a:t>LiGaMD3 for </a:t>
            </a:r>
            <a:r>
              <a:rPr lang="en-US" b="1">
                <a:solidFill>
                  <a:srgbClr val="FF0000"/>
                </a:solidFill>
                <a:latin typeface="Times New Roman" panose="02020503050405090304"/>
                <a:ea typeface="Microsoft YaHei"/>
              </a:rPr>
              <a:t>HSP </a:t>
            </a:r>
            <a:r>
              <a:rPr lang="en-US" sz="1800" b="1" u="none" strike="noStrike">
                <a:solidFill>
                  <a:srgbClr val="FF0000"/>
                </a:solidFill>
                <a:uFillTx/>
                <a:latin typeface="Times New Roman" panose="02020503050405090304"/>
                <a:ea typeface="Microsoft YaHei"/>
              </a:rPr>
              <a:t>- </a:t>
            </a:r>
            <a:r>
              <a:rPr lang="en-US" b="1">
                <a:solidFill>
                  <a:srgbClr val="FF0000"/>
                </a:solidFill>
                <a:latin typeface="Times New Roman" panose="02020503050405090304"/>
                <a:ea typeface="Microsoft YaHei"/>
              </a:rPr>
              <a:t>5OCI</a:t>
            </a:r>
            <a:r>
              <a:rPr lang="en-US" sz="1800" b="0" u="none" strike="noStrike">
                <a:solidFill>
                  <a:schemeClr val="dk1"/>
                </a:solidFill>
                <a:uFillTx/>
                <a:latin typeface="Times New Roman" panose="02020503050405090304"/>
                <a:ea typeface="Microsoft YaHei"/>
              </a:rPr>
              <a:t> </a:t>
            </a:r>
            <a:endParaRPr lang="en-US" sz="1800" b="0" u="none" strike="noStrike">
              <a:solidFill>
                <a:schemeClr val="dk1"/>
              </a:solidFill>
              <a:uFillTx/>
              <a:latin typeface="Arial" panose="020B0604020202090204"/>
              <a:cs typeface="Arial" panose="020B0604020202090204"/>
            </a:endParaRPr>
          </a:p>
        </p:txBody>
      </p:sp>
      <p:sp>
        <p:nvSpPr>
          <p:cNvPr id="140" name="TextBox 4"/>
          <p:cNvSpPr/>
          <p:nvPr/>
        </p:nvSpPr>
        <p:spPr>
          <a:xfrm>
            <a:off x="1325520" y="5657400"/>
            <a:ext cx="21232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FF0000"/>
                </a:solidFill>
                <a:uFillTx/>
                <a:latin typeface="Times New Roman" panose="02020503050405090304"/>
                <a:ea typeface="等线"/>
              </a:rPr>
              <a:t> 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90204"/>
            </a:endParaRPr>
          </a:p>
        </p:txBody>
      </p:sp>
      <p:sp>
        <p:nvSpPr>
          <p:cNvPr id="141" name="文本框 5"/>
          <p:cNvSpPr/>
          <p:nvPr/>
        </p:nvSpPr>
        <p:spPr>
          <a:xfrm>
            <a:off x="1170720" y="64800"/>
            <a:ext cx="3105000" cy="4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90000" tIns="45000" rIns="90000" bIns="45000" numCol="1" spcCol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600" b="1" u="none" strike="noStrike">
                <a:solidFill>
                  <a:srgbClr val="3366FF"/>
                </a:solidFill>
                <a:uFillTx/>
                <a:latin typeface="Microsoft YaHei"/>
                <a:ea typeface="Microsoft YaHei"/>
              </a:rPr>
              <a:t>2. Experiment</a:t>
            </a:r>
            <a:endParaRPr lang="en-US" sz="2600" b="0" u="none" strike="noStrike">
              <a:solidFill>
                <a:srgbClr val="000000"/>
              </a:solidFill>
              <a:uFillTx/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2"/>
          <p:cNvSpPr/>
          <p:nvPr/>
        </p:nvSpPr>
        <p:spPr>
          <a:xfrm>
            <a:off x="6962400" y="225000"/>
            <a:ext cx="4116588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66FF"/>
                </a:solidFill>
                <a:uFillTx/>
                <a:latin typeface="Times New Roman" panose="02020503050405090304"/>
                <a:ea typeface="Microsoft YaHei"/>
              </a:rPr>
              <a:t>LiGaMD3 for </a:t>
            </a:r>
            <a:r>
              <a:rPr lang="en-US" b="1">
                <a:solidFill>
                  <a:srgbClr val="FF0000"/>
                </a:solidFill>
                <a:latin typeface="Times New Roman" panose="02020503050405090304"/>
                <a:ea typeface="Microsoft YaHei"/>
              </a:rPr>
              <a:t>HSP </a:t>
            </a:r>
            <a:r>
              <a:rPr lang="en-US" sz="1800" b="1" u="none" strike="noStrike">
                <a:solidFill>
                  <a:srgbClr val="FF0000"/>
                </a:solidFill>
                <a:uFillTx/>
                <a:latin typeface="Times New Roman" panose="02020503050405090304"/>
                <a:ea typeface="Microsoft YaHei"/>
              </a:rPr>
              <a:t>- </a:t>
            </a:r>
            <a:r>
              <a:rPr lang="en-US" b="1">
                <a:solidFill>
                  <a:srgbClr val="FF0000"/>
                </a:solidFill>
                <a:latin typeface="Times New Roman" panose="02020503050405090304"/>
                <a:ea typeface="Microsoft YaHei"/>
              </a:rPr>
              <a:t>5ODX</a:t>
            </a:r>
            <a:endParaRPr lang="en-US" sz="1800" b="0" u="none" strike="noStrike">
              <a:solidFill>
                <a:schemeClr val="dk1"/>
              </a:solidFill>
              <a:uFillTx/>
              <a:latin typeface="Times New Roman" panose="02020503050405090304"/>
              <a:ea typeface="Microsoft YaHei"/>
              <a:cs typeface="Times New Roman" panose="02020503050405090304"/>
            </a:endParaRPr>
          </a:p>
        </p:txBody>
      </p:sp>
      <p:sp>
        <p:nvSpPr>
          <p:cNvPr id="140" name="TextBox 4"/>
          <p:cNvSpPr/>
          <p:nvPr/>
        </p:nvSpPr>
        <p:spPr>
          <a:xfrm>
            <a:off x="1325520" y="5657400"/>
            <a:ext cx="21232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FF0000"/>
                </a:solidFill>
                <a:uFillTx/>
                <a:latin typeface="Times New Roman" panose="02020503050405090304"/>
                <a:ea typeface="等线"/>
              </a:rPr>
              <a:t> 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90204"/>
            </a:endParaRPr>
          </a:p>
        </p:txBody>
      </p:sp>
      <p:sp>
        <p:nvSpPr>
          <p:cNvPr id="141" name="文本框 5"/>
          <p:cNvSpPr/>
          <p:nvPr/>
        </p:nvSpPr>
        <p:spPr>
          <a:xfrm>
            <a:off x="1170720" y="64800"/>
            <a:ext cx="3105000" cy="4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90000" tIns="45000" rIns="90000" bIns="45000" numCol="1" spcCol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600" b="1" u="none" strike="noStrike">
                <a:solidFill>
                  <a:srgbClr val="3366FF"/>
                </a:solidFill>
                <a:uFillTx/>
                <a:latin typeface="Microsoft YaHei"/>
                <a:ea typeface="Microsoft YaHei"/>
              </a:rPr>
              <a:t>2. Experiment</a:t>
            </a:r>
            <a:endParaRPr lang="en-US" sz="2600" b="0" u="none" strike="noStrike">
              <a:solidFill>
                <a:srgbClr val="000000"/>
              </a:solidFill>
              <a:uFillTx/>
              <a:latin typeface="Arial" panose="020B0604020202090204"/>
            </a:endParaRPr>
          </a:p>
        </p:txBody>
      </p:sp>
      <p:pic>
        <p:nvPicPr>
          <p:cNvPr id="2" name="图片 1" descr="图形用户界面, 文本, 应用程序, 电子邮件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2168" y="801727"/>
            <a:ext cx="3557007" cy="5784230"/>
          </a:xfrm>
          <a:prstGeom prst="rect">
            <a:avLst/>
          </a:prstGeom>
        </p:spPr>
      </p:pic>
      <p:pic>
        <p:nvPicPr>
          <p:cNvPr id="3" name="图片 2" descr="图形用户界面, 文本, 应用程序, 电子邮件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00" y="1559080"/>
            <a:ext cx="2867491" cy="359092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5355" y="892098"/>
            <a:ext cx="3971023" cy="54548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2"/>
          <p:cNvSpPr/>
          <p:nvPr/>
        </p:nvSpPr>
        <p:spPr>
          <a:xfrm>
            <a:off x="6962400" y="225000"/>
            <a:ext cx="4116588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66FF"/>
                </a:solidFill>
                <a:uFillTx/>
                <a:latin typeface="Times New Roman" panose="02020503050405090304"/>
                <a:ea typeface="Microsoft YaHei"/>
              </a:rPr>
              <a:t>LiGaMD3 for </a:t>
            </a:r>
            <a:r>
              <a:rPr lang="en-US" b="1">
                <a:solidFill>
                  <a:srgbClr val="FF0000"/>
                </a:solidFill>
                <a:latin typeface="Times New Roman" panose="02020503050405090304"/>
                <a:ea typeface="Microsoft YaHei"/>
              </a:rPr>
              <a:t>HSP </a:t>
            </a:r>
            <a:r>
              <a:rPr lang="en-US" sz="1800" b="1" u="none" strike="noStrike">
                <a:solidFill>
                  <a:srgbClr val="FF0000"/>
                </a:solidFill>
                <a:uFillTx/>
                <a:latin typeface="Times New Roman" panose="02020503050405090304"/>
                <a:ea typeface="Microsoft YaHei"/>
              </a:rPr>
              <a:t>- </a:t>
            </a:r>
            <a:r>
              <a:rPr lang="en-US" b="1">
                <a:solidFill>
                  <a:srgbClr val="FF0000"/>
                </a:solidFill>
                <a:latin typeface="Times New Roman" panose="02020503050405090304"/>
                <a:ea typeface="Microsoft YaHei"/>
              </a:rPr>
              <a:t>5ODX</a:t>
            </a:r>
            <a:endParaRPr lang="en-US" sz="1800" b="0" u="none" strike="noStrike">
              <a:solidFill>
                <a:schemeClr val="dk1"/>
              </a:solidFill>
              <a:uFillTx/>
              <a:latin typeface="Times New Roman" panose="02020503050405090304"/>
              <a:ea typeface="Microsoft YaHei"/>
              <a:cs typeface="Times New Roman" panose="02020503050405090304"/>
            </a:endParaRPr>
          </a:p>
        </p:txBody>
      </p:sp>
      <p:sp>
        <p:nvSpPr>
          <p:cNvPr id="140" name="TextBox 4"/>
          <p:cNvSpPr/>
          <p:nvPr/>
        </p:nvSpPr>
        <p:spPr>
          <a:xfrm>
            <a:off x="1325520" y="5657400"/>
            <a:ext cx="21232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FF0000"/>
                </a:solidFill>
                <a:uFillTx/>
                <a:latin typeface="Times New Roman" panose="02020503050405090304"/>
                <a:ea typeface="等线"/>
              </a:rPr>
              <a:t> 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90204"/>
            </a:endParaRPr>
          </a:p>
        </p:txBody>
      </p:sp>
      <p:sp>
        <p:nvSpPr>
          <p:cNvPr id="141" name="文本框 5"/>
          <p:cNvSpPr/>
          <p:nvPr/>
        </p:nvSpPr>
        <p:spPr>
          <a:xfrm>
            <a:off x="1170720" y="64800"/>
            <a:ext cx="3105000" cy="4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90000" tIns="45000" rIns="90000" bIns="45000" numCol="1" spcCol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600" b="1" u="none" strike="noStrike">
                <a:solidFill>
                  <a:srgbClr val="3366FF"/>
                </a:solidFill>
                <a:uFillTx/>
                <a:latin typeface="Microsoft YaHei"/>
                <a:ea typeface="Microsoft YaHei"/>
              </a:rPr>
              <a:t>2. Experiment</a:t>
            </a:r>
            <a:endParaRPr lang="en-US" sz="2600" b="0" u="none" strike="noStrike">
              <a:solidFill>
                <a:srgbClr val="000000"/>
              </a:solidFill>
              <a:uFillTx/>
              <a:latin typeface="Arial" panose="020B0604020202090204"/>
            </a:endParaRPr>
          </a:p>
        </p:txBody>
      </p:sp>
      <p:pic>
        <p:nvPicPr>
          <p:cNvPr id="6" name="图片 5" descr="图示&#10;&#10;AI 生成的内容可能不正确。"/>
          <p:cNvPicPr>
            <a:picLocks noChangeAspect="1"/>
          </p:cNvPicPr>
          <p:nvPr/>
        </p:nvPicPr>
        <p:blipFill>
          <a:blip r:embed="rId1"/>
          <a:srcRect l="7082" t="933" r="21341"/>
          <a:stretch>
            <a:fillRect/>
          </a:stretch>
        </p:blipFill>
        <p:spPr>
          <a:xfrm>
            <a:off x="7399381" y="1349996"/>
            <a:ext cx="4248727" cy="3344031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853537" y="696923"/>
            <a:ext cx="357343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altLang="zh-CN" err="1">
                <a:solidFill>
                  <a:srgbClr val="2E2E2E"/>
                </a:solidFill>
                <a:latin typeface="Roboto"/>
              </a:rPr>
              <a:t>ibblig</a:t>
            </a:r>
            <a:r>
              <a:rPr lang="en-US" altLang="zh-CN">
                <a:solidFill>
                  <a:srgbClr val="2E2E2E"/>
                </a:solidFill>
                <a:latin typeface="Roboto"/>
              </a:rPr>
              <a:t> = 1, </a:t>
            </a:r>
            <a:r>
              <a:rPr lang="en-US" altLang="zh-CN" err="1">
                <a:solidFill>
                  <a:srgbClr val="2E2E2E"/>
                </a:solidFill>
                <a:latin typeface="Roboto"/>
              </a:rPr>
              <a:t>nlig</a:t>
            </a:r>
            <a:r>
              <a:rPr lang="en-US" altLang="zh-CN">
                <a:solidFill>
                  <a:srgbClr val="2E2E2E"/>
                </a:solidFill>
                <a:latin typeface="Roboto"/>
              </a:rPr>
              <a:t> = 1, </a:t>
            </a:r>
            <a:r>
              <a:rPr lang="en-US" altLang="zh-CN" err="1">
                <a:solidFill>
                  <a:srgbClr val="2E2E2E"/>
                </a:solidFill>
                <a:latin typeface="Roboto"/>
              </a:rPr>
              <a:t>atom_p</a:t>
            </a:r>
            <a:r>
              <a:rPr lang="en-US" altLang="zh-CN">
                <a:solidFill>
                  <a:srgbClr val="2E2E2E"/>
                </a:solidFill>
                <a:latin typeface="Roboto"/>
              </a:rPr>
              <a:t> =1266, </a:t>
            </a:r>
            <a:r>
              <a:rPr lang="en-US" altLang="zh-CN" err="1">
                <a:solidFill>
                  <a:srgbClr val="2E2E2E"/>
                </a:solidFill>
                <a:latin typeface="Roboto"/>
              </a:rPr>
              <a:t>atom_l</a:t>
            </a:r>
            <a:r>
              <a:rPr lang="en-US" altLang="zh-CN">
                <a:solidFill>
                  <a:srgbClr val="2E2E2E"/>
                </a:solidFill>
                <a:latin typeface="Roboto"/>
              </a:rPr>
              <a:t> =36, </a:t>
            </a:r>
            <a:r>
              <a:rPr lang="en-US" altLang="zh-CN" err="1">
                <a:solidFill>
                  <a:srgbClr val="2E2E2E"/>
                </a:solidFill>
                <a:latin typeface="Roboto"/>
              </a:rPr>
              <a:t>dblig</a:t>
            </a:r>
            <a:r>
              <a:rPr lang="en-US" altLang="zh-CN">
                <a:solidFill>
                  <a:srgbClr val="2E2E2E"/>
                </a:solidFill>
                <a:latin typeface="Roboto"/>
              </a:rPr>
              <a:t> = 2.6,</a:t>
            </a: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217558" y="892583"/>
            <a:ext cx="6212306" cy="36825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zh-CN" err="1">
                <a:latin typeface="Times New Roman" panose="02020503050405090304"/>
                <a:cs typeface="Times New Roman" panose="02020503050405090304"/>
              </a:rPr>
              <a:t>natoms</a:t>
            </a:r>
            <a:r>
              <a:rPr lang="en-GB" altLang="zh-CN">
                <a:latin typeface="Times New Roman" panose="02020503050405090304"/>
                <a:cs typeface="Times New Roman" panose="02020503050405090304"/>
              </a:rPr>
              <a:t>= 3371 // the number of protein atoms in the system.</a:t>
            </a:r>
            <a:br>
              <a:rPr lang="en-GB" altLang="zh-CN">
                <a:latin typeface="Times New Roman" panose="02020503050405090304"/>
                <a:cs typeface="Times New Roman" panose="02020503050405090304"/>
              </a:rPr>
            </a:br>
            <a:r>
              <a:rPr lang="en-GB" altLang="zh-CN" err="1">
                <a:latin typeface="Times New Roman" panose="02020503050405090304"/>
                <a:cs typeface="Times New Roman" panose="02020503050405090304"/>
              </a:rPr>
              <a:t>natoms_max</a:t>
            </a:r>
            <a:r>
              <a:rPr lang="en-GB" altLang="zh-CN">
                <a:latin typeface="Times New Roman" panose="02020503050405090304"/>
                <a:cs typeface="Times New Roman" panose="02020503050405090304"/>
              </a:rPr>
              <a:t>= 34900 // the total number of atoms in the system</a:t>
            </a:r>
            <a:br>
              <a:rPr lang="en-GB" altLang="zh-CN">
                <a:latin typeface="Times New Roman" panose="02020503050405090304"/>
                <a:cs typeface="Times New Roman" panose="02020503050405090304"/>
              </a:rPr>
            </a:br>
            <a:r>
              <a:rPr lang="en-GB" altLang="zh-CN" err="1">
                <a:latin typeface="Times New Roman" panose="02020503050405090304"/>
                <a:cs typeface="Times New Roman" panose="02020503050405090304"/>
              </a:rPr>
              <a:t>ntwx</a:t>
            </a:r>
            <a:r>
              <a:rPr lang="en-GB" altLang="zh-CN">
                <a:latin typeface="Times New Roman" panose="02020503050405090304"/>
                <a:cs typeface="Times New Roman" panose="02020503050405090304"/>
              </a:rPr>
              <a:t>= 1000 // the steps to write the trajectory (default)</a:t>
            </a:r>
            <a:br>
              <a:rPr lang="en-GB" altLang="zh-CN">
                <a:latin typeface="Times New Roman" panose="02020503050405090304"/>
                <a:cs typeface="Times New Roman" panose="02020503050405090304"/>
              </a:rPr>
            </a:br>
            <a:r>
              <a:rPr lang="en-GB" altLang="zh-CN" b="1" err="1">
                <a:solidFill>
                  <a:schemeClr val="accent5"/>
                </a:solidFill>
                <a:latin typeface="Times New Roman" panose="02020503050405090304"/>
                <a:cs typeface="Times New Roman" panose="02020503050405090304"/>
              </a:rPr>
              <a:t>ntwprt</a:t>
            </a:r>
            <a:r>
              <a:rPr lang="en-GB" altLang="zh-CN">
                <a:latin typeface="Times New Roman" panose="02020503050405090304"/>
                <a:cs typeface="Times New Roman" panose="02020503050405090304"/>
              </a:rPr>
              <a:t>= </a:t>
            </a:r>
            <a:r>
              <a:rPr lang="en-GB" altLang="zh-CN" err="1">
                <a:latin typeface="Times New Roman" panose="02020503050405090304"/>
                <a:cs typeface="Times New Roman" panose="02020503050405090304"/>
              </a:rPr>
              <a:t>natoms</a:t>
            </a:r>
            <a:r>
              <a:rPr lang="en-GB" altLang="zh-CN">
                <a:latin typeface="Times New Roman" panose="02020503050405090304"/>
                <a:cs typeface="Times New Roman" panose="02020503050405090304"/>
              </a:rPr>
              <a:t>= 3371 // the number of protein complex atoms</a:t>
            </a:r>
            <a:br>
              <a:rPr lang="en-GB" altLang="zh-CN">
                <a:latin typeface="Times New Roman" panose="02020503050405090304"/>
                <a:cs typeface="Times New Roman" panose="02020503050405090304"/>
              </a:rPr>
            </a:br>
            <a:r>
              <a:rPr lang="en-GB" altLang="zh-CN" b="1" err="1">
                <a:solidFill>
                  <a:schemeClr val="accent5"/>
                </a:solidFill>
                <a:latin typeface="Times New Roman" panose="02020503050405090304"/>
                <a:cs typeface="Times New Roman" panose="02020503050405090304"/>
              </a:rPr>
              <a:t>igamd</a:t>
            </a:r>
            <a:r>
              <a:rPr lang="en-GB" altLang="zh-CN">
                <a:latin typeface="Times New Roman" panose="02020503050405090304"/>
                <a:cs typeface="Times New Roman" panose="02020503050405090304"/>
              </a:rPr>
              <a:t>= 28 (default) // </a:t>
            </a:r>
            <a:r>
              <a:rPr lang="en-GB" altLang="zh-CN" err="1">
                <a:latin typeface="Times New Roman" panose="02020503050405090304"/>
                <a:cs typeface="Times New Roman" panose="02020503050405090304"/>
              </a:rPr>
              <a:t>gamd</a:t>
            </a:r>
            <a:br>
              <a:rPr lang="en-GB" altLang="zh-CN">
                <a:latin typeface="Times New Roman" panose="02020503050405090304"/>
                <a:cs typeface="Times New Roman" panose="02020503050405090304"/>
              </a:rPr>
            </a:br>
            <a:r>
              <a:rPr lang="en-GB" altLang="zh-CN" b="1" err="1">
                <a:solidFill>
                  <a:schemeClr val="accent5"/>
                </a:solidFill>
                <a:latin typeface="Times New Roman" panose="02020503050405090304"/>
                <a:cs typeface="Times New Roman" panose="02020503050405090304"/>
              </a:rPr>
              <a:t>ntave</a:t>
            </a:r>
            <a:r>
              <a:rPr lang="en-GB" altLang="zh-CN">
                <a:latin typeface="Times New Roman" panose="02020503050405090304"/>
                <a:cs typeface="Times New Roman" panose="02020503050405090304"/>
              </a:rPr>
              <a:t>= 4 x </a:t>
            </a:r>
            <a:r>
              <a:rPr lang="en-GB" altLang="zh-CN" err="1">
                <a:latin typeface="Times New Roman" panose="02020503050405090304"/>
                <a:cs typeface="Times New Roman" panose="02020503050405090304"/>
              </a:rPr>
              <a:t>natoms_max</a:t>
            </a:r>
            <a:r>
              <a:rPr lang="en-GB" altLang="zh-CN">
                <a:latin typeface="Times New Roman" panose="02020503050405090304"/>
                <a:cs typeface="Times New Roman" panose="02020503050405090304"/>
              </a:rPr>
              <a:t> = 4 x </a:t>
            </a:r>
            <a:r>
              <a:rPr lang="en-GB" altLang="zh-CN">
                <a:latin typeface="Times New Roman" panose="02020503050405090304"/>
                <a:ea typeface="+mn-lt"/>
                <a:cs typeface="Times New Roman" panose="02020503050405090304"/>
              </a:rPr>
              <a:t>34900 </a:t>
            </a:r>
            <a:r>
              <a:rPr lang="en-GB" altLang="zh-CN">
                <a:latin typeface="Times New Roman" panose="02020503050405090304"/>
                <a:cs typeface="Times New Roman" panose="02020503050405090304"/>
              </a:rPr>
              <a:t> = </a:t>
            </a:r>
            <a:r>
              <a:rPr lang="en-GB" altLang="zh-CN">
                <a:latin typeface="Times New Roman" panose="02020503050405090304"/>
                <a:ea typeface="+mn-lt"/>
                <a:cs typeface="Times New Roman" panose="02020503050405090304"/>
              </a:rPr>
              <a:t>139428</a:t>
            </a:r>
            <a:r>
              <a:rPr lang="en-US">
                <a:latin typeface="Times New Roman" panose="02020503050405090304"/>
                <a:ea typeface="+mn-lt"/>
                <a:cs typeface="Times New Roman" panose="02020503050405090304"/>
              </a:rPr>
              <a:t> ~ </a:t>
            </a:r>
            <a:r>
              <a:rPr lang="en-US">
                <a:solidFill>
                  <a:srgbClr val="FF0000"/>
                </a:solidFill>
                <a:latin typeface="Times New Roman" panose="02020503050405090304"/>
                <a:ea typeface="+mn-lt"/>
                <a:cs typeface="Times New Roman" panose="02020503050405090304"/>
              </a:rPr>
              <a:t>20</a:t>
            </a:r>
            <a:r>
              <a:rPr lang="en-US" b="1">
                <a:solidFill>
                  <a:srgbClr val="FF0000"/>
                </a:solidFill>
                <a:latin typeface="Times New Roman" panose="02020503050405090304"/>
                <a:ea typeface="+mn-lt"/>
                <a:cs typeface="Times New Roman" panose="02020503050405090304"/>
              </a:rPr>
              <a:t>0000</a:t>
            </a:r>
            <a:endParaRPr lang="en-US" altLang="zh-CN">
              <a:latin typeface="Times New Roman" panose="02020503050405090304"/>
              <a:cs typeface="Times New Roman" panose="02020503050405090304"/>
            </a:endParaRPr>
          </a:p>
          <a:p>
            <a:r>
              <a:rPr lang="en-GB">
                <a:latin typeface="Times New Roman" panose="02020503050405090304"/>
                <a:cs typeface="Times New Roman" panose="02020503050405090304"/>
              </a:rPr>
              <a:t>(Always make it a whole number) </a:t>
            </a:r>
            <a:endParaRPr lang="en-US">
              <a:latin typeface="Times New Roman" panose="02020503050405090304"/>
              <a:cs typeface="Times New Roman" panose="02020503050405090304"/>
            </a:endParaRPr>
          </a:p>
          <a:p>
            <a:r>
              <a:rPr lang="en-GB" b="1" err="1">
                <a:solidFill>
                  <a:schemeClr val="accent5"/>
                </a:solidFill>
                <a:latin typeface="Times New Roman" panose="02020503050405090304"/>
                <a:cs typeface="Times New Roman" panose="02020503050405090304"/>
              </a:rPr>
              <a:t>ntcmd</a:t>
            </a:r>
            <a:r>
              <a:rPr lang="en-GB">
                <a:latin typeface="Times New Roman" panose="02020503050405090304"/>
                <a:cs typeface="Times New Roman" panose="02020503050405090304"/>
              </a:rPr>
              <a:t>= 5 x </a:t>
            </a:r>
            <a:r>
              <a:rPr lang="en-GB" err="1">
                <a:latin typeface="Times New Roman" panose="02020503050405090304"/>
                <a:cs typeface="Times New Roman" panose="02020503050405090304"/>
              </a:rPr>
              <a:t>ntave</a:t>
            </a:r>
            <a:r>
              <a:rPr lang="en-GB">
                <a:latin typeface="Times New Roman" panose="02020503050405090304"/>
                <a:cs typeface="Times New Roman" panose="02020503050405090304"/>
              </a:rPr>
              <a:t> = 10 x 200,000 = 2,000,000</a:t>
            </a:r>
            <a:br>
              <a:rPr lang="en-GB">
                <a:latin typeface="Times New Roman" panose="02020503050405090304"/>
                <a:cs typeface="Times New Roman" panose="02020503050405090304"/>
              </a:rPr>
            </a:br>
            <a:r>
              <a:rPr lang="en-GB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ntcmdprep</a:t>
            </a:r>
            <a:r>
              <a:rPr lang="en-GB">
                <a:latin typeface="Times New Roman" panose="02020503050405090304"/>
                <a:cs typeface="Times New Roman" panose="02020503050405090304"/>
              </a:rPr>
              <a:t>= 2 x </a:t>
            </a:r>
            <a:r>
              <a:rPr lang="en-GB" err="1">
                <a:latin typeface="Times New Roman" panose="02020503050405090304"/>
                <a:cs typeface="Times New Roman" panose="02020503050405090304"/>
              </a:rPr>
              <a:t>ntave</a:t>
            </a:r>
            <a:r>
              <a:rPr lang="en-GB">
                <a:latin typeface="Times New Roman" panose="02020503050405090304"/>
                <a:cs typeface="Times New Roman" panose="02020503050405090304"/>
              </a:rPr>
              <a:t> = 2 x 200,000 = 400,000</a:t>
            </a:r>
            <a:br>
              <a:rPr lang="en-GB">
                <a:latin typeface="Times New Roman" panose="02020503050405090304"/>
                <a:cs typeface="Times New Roman" panose="02020503050405090304"/>
              </a:rPr>
            </a:br>
            <a:r>
              <a:rPr lang="en-GB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ntebprep</a:t>
            </a:r>
            <a:r>
              <a:rPr lang="en-GB">
                <a:latin typeface="Times New Roman" panose="02020503050405090304"/>
                <a:cs typeface="Times New Roman" panose="02020503050405090304"/>
              </a:rPr>
              <a:t>= 2 x ntave= 2 x 200,000 = </a:t>
            </a:r>
            <a:r>
              <a:rPr lang="en-GB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400,000</a:t>
            </a:r>
            <a:br>
              <a:rPr lang="en-GB">
                <a:latin typeface="Times New Roman" panose="02020503050405090304"/>
                <a:cs typeface="Times New Roman" panose="02020503050405090304"/>
              </a:rPr>
            </a:br>
            <a:r>
              <a:rPr lang="en-GB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nteb</a:t>
            </a:r>
            <a:r>
              <a:rPr lang="en-GB">
                <a:latin typeface="Times New Roman" panose="02020503050405090304"/>
                <a:cs typeface="Times New Roman" panose="02020503050405090304"/>
              </a:rPr>
              <a:t>= 45</a:t>
            </a:r>
            <a:r>
              <a:rPr lang="en-US">
                <a:latin typeface="Times New Roman" panose="02020503050405090304"/>
                <a:cs typeface="Times New Roman" panose="02020503050405090304"/>
              </a:rPr>
              <a:t> </a:t>
            </a:r>
            <a:r>
              <a:rPr lang="en-GB">
                <a:latin typeface="Times New Roman" panose="02020503050405090304"/>
                <a:cs typeface="Times New Roman" panose="02020503050405090304"/>
              </a:rPr>
              <a:t>x ntave= 100</a:t>
            </a:r>
            <a:r>
              <a:rPr lang="en-US">
                <a:latin typeface="Times New Roman" panose="02020503050405090304"/>
                <a:cs typeface="Times New Roman" panose="02020503050405090304"/>
              </a:rPr>
              <a:t> </a:t>
            </a:r>
            <a:r>
              <a:rPr lang="en-GB">
                <a:latin typeface="Times New Roman" panose="02020503050405090304"/>
                <a:cs typeface="Times New Roman" panose="02020503050405090304"/>
              </a:rPr>
              <a:t>x 200,000 = </a:t>
            </a:r>
            <a:r>
              <a:rPr lang="en-US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20,000,000</a:t>
            </a:r>
            <a:br>
              <a:rPr lang="en-US">
                <a:latin typeface="Times New Roman" panose="02020503050405090304"/>
                <a:cs typeface="Times New Roman" panose="02020503050405090304"/>
              </a:rPr>
            </a:br>
            <a:r>
              <a:rPr lang="en-US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nstlim</a:t>
            </a:r>
            <a:r>
              <a:rPr lang="en-GB">
                <a:latin typeface="Times New Roman" panose="02020503050405090304"/>
                <a:cs typeface="Times New Roman" panose="02020503050405090304"/>
              </a:rPr>
              <a:t>= </a:t>
            </a:r>
            <a:r>
              <a:rPr lang="en-GB" err="1">
                <a:latin typeface="Times New Roman" panose="02020503050405090304"/>
                <a:cs typeface="Times New Roman" panose="02020503050405090304"/>
              </a:rPr>
              <a:t>nteb</a:t>
            </a:r>
            <a:r>
              <a:rPr lang="en-GB">
                <a:latin typeface="Times New Roman" panose="02020503050405090304"/>
                <a:cs typeface="Times New Roman" panose="02020503050405090304"/>
              </a:rPr>
              <a:t> + ntcmd= 20,00</a:t>
            </a:r>
            <a:r>
              <a:rPr lang="en-US">
                <a:latin typeface="Times New Roman" panose="02020503050405090304"/>
                <a:cs typeface="Times New Roman" panose="02020503050405090304"/>
              </a:rPr>
              <a:t>0,000</a:t>
            </a:r>
            <a:r>
              <a:rPr lang="en-GB">
                <a:latin typeface="Times New Roman" panose="02020503050405090304"/>
                <a:cs typeface="Times New Roman" panose="02020503050405090304"/>
              </a:rPr>
              <a:t> + 2000,000 = 22</a:t>
            </a:r>
            <a:r>
              <a:rPr lang="en-US">
                <a:latin typeface="Times New Roman" panose="02020503050405090304"/>
                <a:cs typeface="Times New Roman" panose="02020503050405090304"/>
              </a:rPr>
              <a:t>,000,000</a:t>
            </a:r>
            <a:endParaRPr lang="en-US">
              <a:latin typeface="Times New Roman" panose="02020503050405090304"/>
              <a:ea typeface="等线"/>
              <a:cs typeface="Times New Roman" panose="02020503050405090304"/>
            </a:endParaRPr>
          </a:p>
          <a:p>
            <a:r>
              <a:rPr lang="en-GB">
                <a:latin typeface="Times New Roman" panose="02020503050405090304"/>
                <a:cs typeface="Times New Roman" panose="02020503050405090304"/>
              </a:rPr>
              <a:t>/500,000 = 44</a:t>
            </a:r>
            <a:r>
              <a:rPr lang="en-GB" b="1">
                <a:latin typeface="Times New Roman" panose="02020503050405090304"/>
                <a:cs typeface="Times New Roman" panose="02020503050405090304"/>
              </a:rPr>
              <a:t> ns </a:t>
            </a:r>
            <a:endParaRPr lang="en-GB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42632" y="4783016"/>
            <a:ext cx="11955085" cy="207040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altLang="zh-CN" b="1">
                <a:solidFill>
                  <a:schemeClr val="accent5"/>
                </a:solidFill>
              </a:rPr>
              <a:t>Bgpro2atm</a:t>
            </a:r>
            <a:r>
              <a:rPr lang="en-US" altLang="zh-CN"/>
              <a:t>= 1,         //Start atomic number of the protein region. </a:t>
            </a:r>
            <a:endParaRPr lang="zh-CN" altLang="en-US"/>
          </a:p>
          <a:p>
            <a:r>
              <a:rPr lang="en-US" altLang="zh-CN" b="1">
                <a:solidFill>
                  <a:schemeClr val="accent5"/>
                </a:solidFill>
              </a:rPr>
              <a:t>Edpro2atm</a:t>
            </a:r>
            <a:r>
              <a:rPr lang="en-US" altLang="zh-CN"/>
              <a:t>= 3304,        //End atomic number of the protein region.</a:t>
            </a:r>
            <a:endParaRPr lang="en-US" altLang="zh-CN">
              <a:ea typeface="等线"/>
            </a:endParaRPr>
          </a:p>
          <a:p>
            <a:endParaRPr lang="en-US" altLang="zh-CN">
              <a:ea typeface="等线"/>
            </a:endParaRPr>
          </a:p>
          <a:p>
            <a:r>
              <a:rPr lang="en-US" b="1">
                <a:solidFill>
                  <a:schemeClr val="accent5"/>
                </a:solidFill>
                <a:ea typeface="+mn-lt"/>
                <a:cs typeface="+mn-lt"/>
              </a:rPr>
              <a:t>Timask1</a:t>
            </a:r>
            <a:r>
              <a:rPr lang="en-US">
                <a:ea typeface="+mn-lt"/>
                <a:cs typeface="+mn-lt"/>
              </a:rPr>
              <a:t>: ‘:212'  //Specifies atoms of the ligand. This variable has already been used in AMBER. The default is an empty string.</a:t>
            </a:r>
            <a:endParaRPr lang="en-US">
              <a:ea typeface="等线"/>
            </a:endParaRPr>
          </a:p>
          <a:p>
            <a:r>
              <a:rPr lang="en-US" b="1">
                <a:solidFill>
                  <a:schemeClr val="accent5"/>
                </a:solidFill>
                <a:ea typeface="+mn-lt"/>
                <a:cs typeface="+mn-lt"/>
              </a:rPr>
              <a:t>Scmask1</a:t>
            </a:r>
            <a:r>
              <a:rPr lang="en-US">
                <a:ea typeface="+mn-lt"/>
                <a:cs typeface="+mn-lt"/>
              </a:rPr>
              <a:t>: ‘:212'  //Specifies atoms of the ligand that will be described using soft core in </a:t>
            </a:r>
            <a:r>
              <a:rPr lang="en-US" err="1">
                <a:ea typeface="+mn-lt"/>
                <a:cs typeface="+mn-lt"/>
              </a:rPr>
              <a:t>ambmask</a:t>
            </a:r>
            <a:r>
              <a:rPr lang="en-US">
                <a:ea typeface="+mn-lt"/>
                <a:cs typeface="+mn-lt"/>
              </a:rPr>
              <a:t> format. The</a:t>
            </a:r>
            <a:endParaRPr lang="en-US">
              <a:ea typeface="等线"/>
            </a:endParaRPr>
          </a:p>
          <a:p>
            <a:r>
              <a:rPr lang="en-US">
                <a:ea typeface="+mn-lt"/>
                <a:cs typeface="+mn-lt"/>
              </a:rPr>
              <a:t>default is an empty string.</a:t>
            </a:r>
            <a:endParaRPr lang="en-US"/>
          </a:p>
        </p:txBody>
      </p:sp>
      <p:sp>
        <p:nvSpPr>
          <p:cNvPr id="14" name="文本框 13"/>
          <p:cNvSpPr txBox="1"/>
          <p:nvPr/>
        </p:nvSpPr>
        <p:spPr>
          <a:xfrm>
            <a:off x="8648839" y="4917051"/>
            <a:ext cx="267115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zh-CN" altLang="en-US" b="1">
                <a:ea typeface="等线"/>
              </a:rPr>
              <a:t>ASP/79-OD2-</a:t>
            </a:r>
            <a:r>
              <a:rPr lang="zh-CN" altLang="en-US" b="1">
                <a:solidFill>
                  <a:srgbClr val="FF0000"/>
                </a:solidFill>
                <a:ea typeface="等线"/>
              </a:rPr>
              <a:t>1266</a:t>
            </a:r>
            <a:endParaRPr lang="zh-CN" altLang="en-US" b="1">
              <a:ea typeface="等线"/>
            </a:endParaRPr>
          </a:p>
          <a:p>
            <a:r>
              <a:rPr lang="zh-CN" altLang="en-US" b="1">
                <a:ea typeface="等线"/>
              </a:rPr>
              <a:t>9RZ/ 212-O2-</a:t>
            </a:r>
            <a:r>
              <a:rPr lang="zh-CN" altLang="en-US" b="1">
                <a:solidFill>
                  <a:srgbClr val="FF0000"/>
                </a:solidFill>
                <a:ea typeface="等线"/>
              </a:rPr>
              <a:t>36</a:t>
            </a:r>
            <a:endParaRPr lang="zh-CN">
              <a:solidFill>
                <a:srgbClr val="000000"/>
              </a:solidFill>
              <a:ea typeface="等线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911*436"/>
  <p:tag name="TABLE_ENDDRAG_RECT" val="40*98*911*436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</a:majorFont>
      <a:minorFont>
        <a:latin typeface="等线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3183</Words>
  <Application>WPS Writer</Application>
  <PresentationFormat>宽屏</PresentationFormat>
  <Paragraphs>266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40" baseType="lpstr">
      <vt:lpstr>Arial</vt:lpstr>
      <vt:lpstr>SimSun</vt:lpstr>
      <vt:lpstr>Wingdings</vt:lpstr>
      <vt:lpstr>Times New Roman</vt:lpstr>
      <vt:lpstr>等线</vt:lpstr>
      <vt:lpstr>汉仪中等线KW</vt:lpstr>
      <vt:lpstr>Symbol</vt:lpstr>
      <vt:lpstr>Calibri</vt:lpstr>
      <vt:lpstr>Arial</vt:lpstr>
      <vt:lpstr>Franklin Gothic Book</vt:lpstr>
      <vt:lpstr>Microsoft YaHei</vt:lpstr>
      <vt:lpstr>汉仪旗黑</vt:lpstr>
      <vt:lpstr>Times New Roman</vt:lpstr>
      <vt:lpstr>Roboto</vt:lpstr>
      <vt:lpstr>Thonburi</vt:lpstr>
      <vt:lpstr>Microsoft YaHei</vt:lpstr>
      <vt:lpstr>Arial Unicode MS</vt:lpstr>
      <vt:lpstr>Helvetica Neue</vt:lpstr>
      <vt:lpstr>Kingsoft Sign</vt:lpstr>
      <vt:lpstr>Aptos</vt:lpstr>
      <vt:lpstr>Franklin Gothic Book</vt:lpstr>
      <vt:lpstr>Microsoft YaHei</vt:lpstr>
      <vt:lpstr>Roboto</vt:lpstr>
      <vt:lpstr>等线</vt:lpstr>
      <vt:lpstr>汉仪书宋二KW</vt:lpstr>
      <vt:lpstr>苹方-简</vt:lpstr>
      <vt:lpstr>-apple-system</vt:lpstr>
      <vt:lpstr>SimSun</vt:lpstr>
      <vt:lpstr>Apple Color Emoji</vt:lpstr>
      <vt:lpstr>Office 主题​​</vt:lpstr>
      <vt:lpstr>Office 主题​​</vt:lpstr>
      <vt:lpstr>Combine molecular dynamic and machine learning for prediction of ligands dissociation and binding kinetics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GaMD for M1R and M4R</dc:title>
  <dc:creator>Xiao Fu</dc:creator>
  <cp:lastModifiedBy>刘振鹏</cp:lastModifiedBy>
  <cp:revision>149</cp:revision>
  <dcterms:created xsi:type="dcterms:W3CDTF">2026-02-22T22:35:05Z</dcterms:created>
  <dcterms:modified xsi:type="dcterms:W3CDTF">2026-02-22T22:35:05Z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Widescreen</vt:lpwstr>
  </property>
  <property fmtid="{D5CDD505-2E9C-101B-9397-08002B2CF9AE}" pid="4" name="Slides">
    <vt:i4>19</vt:i4>
  </property>
  <property fmtid="{D5CDD505-2E9C-101B-9397-08002B2CF9AE}" pid="5" name="ICV">
    <vt:lpwstr>2DE5F0C77C1D729498849B6914D2B363_43</vt:lpwstr>
  </property>
  <property fmtid="{D5CDD505-2E9C-101B-9397-08002B2CF9AE}" pid="6" name="KSOProductBuildVer">
    <vt:lpwstr>1033-12.1.22553.22553</vt:lpwstr>
  </property>
</Properties>
</file>